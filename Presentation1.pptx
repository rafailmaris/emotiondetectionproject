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89" d="100"/>
          <a:sy n="89" d="100"/>
        </p:scale>
        <p:origin x="68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A99E1-F754-46FA-B068-EC7537F20C07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3F573-6814-4E86-816F-B4154000A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469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848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3768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7706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4963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609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3016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7643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638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8514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23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BA444-9DF2-4030-B8D8-99B8BE1653C6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30A91-E0AD-4F86-B3AA-5EBE44B9F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335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BA444-9DF2-4030-B8D8-99B8BE1653C6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30A91-E0AD-4F86-B3AA-5EBE44B9F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508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BA444-9DF2-4030-B8D8-99B8BE1653C6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30A91-E0AD-4F86-B3AA-5EBE44B9F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278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BA444-9DF2-4030-B8D8-99B8BE1653C6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30A91-E0AD-4F86-B3AA-5EBE44B9F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483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BA444-9DF2-4030-B8D8-99B8BE1653C6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30A91-E0AD-4F86-B3AA-5EBE44B9F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663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BA444-9DF2-4030-B8D8-99B8BE1653C6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30A91-E0AD-4F86-B3AA-5EBE44B9F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482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BA444-9DF2-4030-B8D8-99B8BE1653C6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30A91-E0AD-4F86-B3AA-5EBE44B9F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525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BA444-9DF2-4030-B8D8-99B8BE1653C6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30A91-E0AD-4F86-B3AA-5EBE44B9F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494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BA444-9DF2-4030-B8D8-99B8BE1653C6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30A91-E0AD-4F86-B3AA-5EBE44B9F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829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BA444-9DF2-4030-B8D8-99B8BE1653C6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30A91-E0AD-4F86-B3AA-5EBE44B9F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247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BA444-9DF2-4030-B8D8-99B8BE1653C6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30A91-E0AD-4F86-B3AA-5EBE44B9F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6011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77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7BA444-9DF2-4030-B8D8-99B8BE1653C6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530A91-E0AD-4F86-B3AA-5EBE44B9F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9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sd25t4HmFdU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docs.opencv.org/4.x/d6/d00/tutorial_py_root.html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users.utcluj.ro/~tmarita/IOC/C6/C6.pdf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https://facedetection.com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9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521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3048000" cy="68580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0"/>
            <a:ext cx="97536" cy="68580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36576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53600" y="36576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80320" y="36576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07040" y="36576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33760" y="36576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60480" y="36576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0" y="134112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53600" y="134112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80320" y="134112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07040" y="134112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033760" y="134112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60480" y="134112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0" y="231648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53600" y="231648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80320" y="231648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07040" y="231648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033760" y="231648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60480" y="231648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29184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53600" y="329184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80320" y="329184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07040" y="329184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33760" y="329184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60480" y="329184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26880" y="426720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53600" y="426720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80320" y="426720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607040" y="426720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033760" y="426720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460480" y="4267200"/>
            <a:ext cx="85344" cy="8534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9600" y="670560"/>
            <a:ext cx="2682240" cy="3901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9600" y="670560"/>
            <a:ext cx="26822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</a:rPr>
              <a:t>IMAGE PROCESSING</a:t>
            </a:r>
            <a:endParaRPr lang="en-US" sz="1067" dirty="0"/>
          </a:p>
        </p:txBody>
      </p:sp>
      <p:sp>
        <p:nvSpPr>
          <p:cNvPr id="36" name="Text 34"/>
          <p:cNvSpPr/>
          <p:nvPr/>
        </p:nvSpPr>
        <p:spPr>
          <a:xfrm>
            <a:off x="609600" y="1280160"/>
            <a:ext cx="816864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933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Emotion Detection</a:t>
            </a:r>
            <a:endParaRPr lang="en-US" sz="6933" dirty="0"/>
          </a:p>
        </p:txBody>
      </p:sp>
      <p:sp>
        <p:nvSpPr>
          <p:cNvPr id="37" name="Text 35"/>
          <p:cNvSpPr/>
          <p:nvPr/>
        </p:nvSpPr>
        <p:spPr>
          <a:xfrm>
            <a:off x="609600" y="2499360"/>
            <a:ext cx="816864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933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</a:t>
            </a:r>
            <a:endParaRPr lang="en-US" sz="6933" dirty="0"/>
          </a:p>
        </p:txBody>
      </p:sp>
      <p:sp>
        <p:nvSpPr>
          <p:cNvPr id="38" name="Text 36"/>
          <p:cNvSpPr/>
          <p:nvPr/>
        </p:nvSpPr>
        <p:spPr>
          <a:xfrm>
            <a:off x="609600" y="3901440"/>
            <a:ext cx="816864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40000"/>
              </a:lnSpc>
            </a:pPr>
            <a:r>
              <a:rPr lang="en-US" sz="1867" dirty="0">
                <a:solidFill>
                  <a:srgbClr val="AAAAAA"/>
                </a:solidFill>
              </a:rPr>
              <a:t>Mari</a:t>
            </a:r>
            <a:r>
              <a:rPr lang="ro-RO" sz="1867" dirty="0">
                <a:solidFill>
                  <a:srgbClr val="AAAAAA"/>
                </a:solidFill>
              </a:rPr>
              <a:t>ș Rafail - 30433</a:t>
            </a:r>
            <a:endParaRPr lang="en-US" sz="1867" dirty="0"/>
          </a:p>
        </p:txBody>
      </p:sp>
      <p:sp>
        <p:nvSpPr>
          <p:cNvPr id="39" name="Shape 37"/>
          <p:cNvSpPr/>
          <p:nvPr/>
        </p:nvSpPr>
        <p:spPr>
          <a:xfrm>
            <a:off x="0" y="6339840"/>
            <a:ext cx="12192000" cy="51816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1" name="Text 45"/>
          <p:cNvSpPr/>
          <p:nvPr/>
        </p:nvSpPr>
        <p:spPr>
          <a:xfrm>
            <a:off x="609600" y="6339840"/>
            <a:ext cx="10972800" cy="518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666666"/>
                </a:solidFill>
              </a:rPr>
              <a:t>Emotion Detection System  •  Theoretical Background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66685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04800"/>
            <a:ext cx="1950720" cy="3413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04800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</a:rPr>
              <a:t>OVERVIEW</a:t>
            </a:r>
            <a:endParaRPr lang="en-US" sz="1067" dirty="0"/>
          </a:p>
        </p:txBody>
      </p:sp>
      <p:sp>
        <p:nvSpPr>
          <p:cNvPr id="5" name="Text 3"/>
          <p:cNvSpPr/>
          <p:nvPr/>
        </p:nvSpPr>
        <p:spPr>
          <a:xfrm>
            <a:off x="365760" y="774192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Description</a:t>
            </a:r>
            <a:endParaRPr lang="en-US" sz="4267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5242560" cy="426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28800"/>
            <a:ext cx="5242560" cy="512064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28800"/>
            <a:ext cx="5242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What will the project do?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548640" y="2438400"/>
            <a:ext cx="4876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5000"/>
              </a:lnSpc>
            </a:pPr>
            <a:r>
              <a:rPr lang="ro-RO" sz="1600" dirty="0">
                <a:solidFill>
                  <a:srgbClr val="CCCCCC"/>
                </a:solidFill>
              </a:rPr>
              <a:t>A method for allowing the computer to detect the user</a:t>
            </a:r>
            <a:r>
              <a:rPr lang="en-US" sz="1600" dirty="0">
                <a:solidFill>
                  <a:srgbClr val="CCCCCC"/>
                </a:solidFill>
              </a:rPr>
              <a:t>’s emotional state will be implemented.</a:t>
            </a:r>
          </a:p>
          <a:p>
            <a:pPr>
              <a:lnSpc>
                <a:spcPct val="135000"/>
              </a:lnSpc>
            </a:pPr>
            <a:r>
              <a:rPr lang="en-US" sz="1600" dirty="0">
                <a:solidFill>
                  <a:srgbClr val="CCCCCC"/>
                </a:solidFill>
              </a:rPr>
              <a:t>Known “why-did-I-choose-this”:</a:t>
            </a:r>
          </a:p>
          <a:p>
            <a:pPr marL="228594" indent="-228594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Lighting variances</a:t>
            </a:r>
          </a:p>
          <a:p>
            <a:pPr marL="228594" indent="-228594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Expressions not universally quantifiable</a:t>
            </a:r>
          </a:p>
          <a:p>
            <a:pPr marL="228594" indent="-228594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Need for real time processing ( Project is to be extended into my thesis – Affecting Minecraft’s graphic with respect to the emotions displayed by the user)</a:t>
            </a:r>
          </a:p>
        </p:txBody>
      </p:sp>
      <p:sp>
        <p:nvSpPr>
          <p:cNvPr id="10" name="Shape 8"/>
          <p:cNvSpPr/>
          <p:nvPr/>
        </p:nvSpPr>
        <p:spPr>
          <a:xfrm>
            <a:off x="5974080" y="1810512"/>
            <a:ext cx="5852160" cy="426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74080" y="1828800"/>
            <a:ext cx="5852160" cy="512064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74080" y="1828800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No research – initial </a:t>
            </a:r>
            <a:r>
              <a:rPr lang="en-US" sz="1733" b="1" dirty="0" err="1">
                <a:solidFill>
                  <a:srgbClr val="FFFFFF"/>
                </a:solidFill>
              </a:rPr>
              <a:t>ideea</a:t>
            </a:r>
            <a:endParaRPr lang="en-US" sz="1733" dirty="0"/>
          </a:p>
        </p:txBody>
      </p:sp>
      <p:sp>
        <p:nvSpPr>
          <p:cNvPr id="13" name="Shape 11"/>
          <p:cNvSpPr/>
          <p:nvPr/>
        </p:nvSpPr>
        <p:spPr>
          <a:xfrm>
            <a:off x="6156960" y="2560320"/>
            <a:ext cx="512064" cy="46329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56960" y="2560320"/>
            <a:ext cx="512064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</a:rPr>
              <a:t>Cam</a:t>
            </a:r>
            <a:endParaRPr lang="en-US" sz="1067" dirty="0"/>
          </a:p>
        </p:txBody>
      </p:sp>
      <p:sp>
        <p:nvSpPr>
          <p:cNvPr id="16" name="Text 14"/>
          <p:cNvSpPr/>
          <p:nvPr/>
        </p:nvSpPr>
        <p:spPr>
          <a:xfrm>
            <a:off x="6780628" y="2621281"/>
            <a:ext cx="4693920" cy="328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99999"/>
                </a:solidFill>
              </a:rPr>
              <a:t>The laptop must have access to a camera =&gt; need a library</a:t>
            </a:r>
          </a:p>
        </p:txBody>
      </p:sp>
      <p:sp>
        <p:nvSpPr>
          <p:cNvPr id="17" name="Shape 15"/>
          <p:cNvSpPr/>
          <p:nvPr/>
        </p:nvSpPr>
        <p:spPr>
          <a:xfrm>
            <a:off x="6156960" y="3450336"/>
            <a:ext cx="512064" cy="46329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56960" y="3450336"/>
            <a:ext cx="512064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 err="1">
                <a:solidFill>
                  <a:srgbClr val="FFFFFF"/>
                </a:solidFill>
              </a:rPr>
              <a:t>Alg</a:t>
            </a:r>
            <a:endParaRPr lang="en-US" sz="1067" dirty="0"/>
          </a:p>
        </p:txBody>
      </p:sp>
      <p:sp>
        <p:nvSpPr>
          <p:cNvPr id="20" name="Text 18"/>
          <p:cNvSpPr/>
          <p:nvPr/>
        </p:nvSpPr>
        <p:spPr>
          <a:xfrm>
            <a:off x="6766560" y="3507076"/>
            <a:ext cx="46939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99999"/>
                </a:solidFill>
              </a:rPr>
              <a:t>How will laptop know where face at?</a:t>
            </a:r>
          </a:p>
        </p:txBody>
      </p:sp>
      <p:sp>
        <p:nvSpPr>
          <p:cNvPr id="21" name="Shape 19"/>
          <p:cNvSpPr/>
          <p:nvPr/>
        </p:nvSpPr>
        <p:spPr>
          <a:xfrm>
            <a:off x="6156960" y="4340352"/>
            <a:ext cx="512064" cy="46329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56960" y="4340352"/>
            <a:ext cx="512064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</a:rPr>
              <a:t>Emo</a:t>
            </a:r>
            <a:endParaRPr lang="en-US" sz="1067" dirty="0"/>
          </a:p>
        </p:txBody>
      </p:sp>
      <p:sp>
        <p:nvSpPr>
          <p:cNvPr id="24" name="Text 22"/>
          <p:cNvSpPr/>
          <p:nvPr/>
        </p:nvSpPr>
        <p:spPr>
          <a:xfrm>
            <a:off x="6780628" y="4406001"/>
            <a:ext cx="46939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99999"/>
                </a:solidFill>
              </a:rPr>
              <a:t>How to get emotion?</a:t>
            </a:r>
            <a:br>
              <a:rPr lang="en-US" sz="1333" dirty="0">
                <a:solidFill>
                  <a:srgbClr val="999999"/>
                </a:solidFill>
              </a:rPr>
            </a:br>
            <a:r>
              <a:rPr lang="en-US" sz="1333" dirty="0">
                <a:solidFill>
                  <a:srgbClr val="999999"/>
                </a:solidFill>
              </a:rPr>
              <a:t>Deep Learn / Heavy math...</a:t>
            </a:r>
          </a:p>
          <a:p>
            <a:r>
              <a:rPr lang="en-US" sz="1333" dirty="0">
                <a:solidFill>
                  <a:srgbClr val="999999"/>
                </a:solidFill>
              </a:rPr>
              <a:t>Need dataset</a:t>
            </a:r>
            <a:endParaRPr lang="en-US" sz="1333" dirty="0"/>
          </a:p>
        </p:txBody>
      </p:sp>
      <p:sp>
        <p:nvSpPr>
          <p:cNvPr id="25" name="Shape 23"/>
          <p:cNvSpPr/>
          <p:nvPr/>
        </p:nvSpPr>
        <p:spPr>
          <a:xfrm>
            <a:off x="6156960" y="5230368"/>
            <a:ext cx="512064" cy="46329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56960" y="5230368"/>
            <a:ext cx="512064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</a:rPr>
              <a:t>HCI</a:t>
            </a:r>
            <a:endParaRPr lang="en-US" sz="1067" dirty="0"/>
          </a:p>
        </p:txBody>
      </p:sp>
      <p:sp>
        <p:nvSpPr>
          <p:cNvPr id="28" name="Text 26"/>
          <p:cNvSpPr/>
          <p:nvPr/>
        </p:nvSpPr>
        <p:spPr>
          <a:xfrm>
            <a:off x="6766560" y="5498592"/>
            <a:ext cx="46939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99999"/>
                </a:solidFill>
              </a:rPr>
              <a:t>Empathetic AI interfaces</a:t>
            </a:r>
            <a:endParaRPr lang="en-US" sz="1333" dirty="0"/>
          </a:p>
        </p:txBody>
      </p:sp>
      <p:sp>
        <p:nvSpPr>
          <p:cNvPr id="29" name="Shape 27"/>
          <p:cNvSpPr/>
          <p:nvPr/>
        </p:nvSpPr>
        <p:spPr>
          <a:xfrm>
            <a:off x="0" y="6339840"/>
            <a:ext cx="12192000" cy="51816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9600" y="6339840"/>
            <a:ext cx="10972800" cy="518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666666"/>
                </a:solidFill>
              </a:rPr>
              <a:t>Emotion Detection System  •  Theoretical Background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71693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04800"/>
            <a:ext cx="1950720" cy="3413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04800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</a:rPr>
              <a:t>Prob1</a:t>
            </a:r>
            <a:endParaRPr lang="en-US" sz="1067" dirty="0"/>
          </a:p>
        </p:txBody>
      </p:sp>
      <p:sp>
        <p:nvSpPr>
          <p:cNvPr id="5" name="Text 3"/>
          <p:cNvSpPr/>
          <p:nvPr/>
        </p:nvSpPr>
        <p:spPr>
          <a:xfrm>
            <a:off x="365760" y="774192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Camera</a:t>
            </a:r>
            <a:endParaRPr lang="en-US" sz="4267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5242560" cy="426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28800"/>
            <a:ext cx="5242560" cy="512064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28800"/>
            <a:ext cx="5242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Problem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548640" y="2438400"/>
            <a:ext cx="4876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5000"/>
              </a:lnSpc>
            </a:pPr>
            <a:r>
              <a:rPr lang="en-US" sz="1600" dirty="0">
                <a:solidFill>
                  <a:srgbClr val="CCCCCC"/>
                </a:solidFill>
              </a:rPr>
              <a:t>Must access the laptop camera in real time and process the user’s face</a:t>
            </a:r>
          </a:p>
          <a:p>
            <a:pPr>
              <a:lnSpc>
                <a:spcPct val="135000"/>
              </a:lnSpc>
            </a:pPr>
            <a:r>
              <a:rPr lang="en-US" sz="1600" dirty="0">
                <a:solidFill>
                  <a:srgbClr val="CCCCCC"/>
                </a:solidFill>
              </a:rPr>
              <a:t>Source: </a:t>
            </a:r>
          </a:p>
          <a:p>
            <a:pPr>
              <a:lnSpc>
                <a:spcPct val="135000"/>
              </a:lnSpc>
            </a:pPr>
            <a:r>
              <a:rPr lang="en-US" sz="1600" dirty="0">
                <a:solidFill>
                  <a:srgbClr val="CCCCCC"/>
                </a:solidFill>
                <a:hlinkClick r:id="rId3"/>
              </a:rPr>
              <a:t>Video</a:t>
            </a:r>
            <a:endParaRPr lang="en-US" sz="1600" dirty="0">
              <a:solidFill>
                <a:srgbClr val="CCCCCC"/>
              </a:solidFill>
            </a:endParaRPr>
          </a:p>
          <a:p>
            <a:pPr>
              <a:lnSpc>
                <a:spcPct val="135000"/>
              </a:lnSpc>
            </a:pPr>
            <a:r>
              <a:rPr lang="en-US" sz="1600" dirty="0" err="1">
                <a:solidFill>
                  <a:srgbClr val="CCCCCC"/>
                </a:solidFill>
                <a:hlinkClick r:id="rId4"/>
              </a:rPr>
              <a:t>OpenCV</a:t>
            </a:r>
            <a:r>
              <a:rPr lang="en-US" sz="1600" dirty="0">
                <a:solidFill>
                  <a:srgbClr val="CCCCCC"/>
                </a:solidFill>
                <a:hlinkClick r:id="rId4"/>
              </a:rPr>
              <a:t> documentation</a:t>
            </a:r>
            <a:endParaRPr lang="en-US" sz="1600" dirty="0">
              <a:solidFill>
                <a:srgbClr val="CCCCCC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30787" y="177210"/>
            <a:ext cx="5852160" cy="5918791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29369" y="177209"/>
            <a:ext cx="5852160" cy="512064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50633" y="177209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Solution (?)</a:t>
            </a:r>
            <a:endParaRPr lang="en-US" sz="1733" dirty="0"/>
          </a:p>
        </p:txBody>
      </p:sp>
      <p:sp>
        <p:nvSpPr>
          <p:cNvPr id="22" name="Text 20"/>
          <p:cNvSpPr/>
          <p:nvPr/>
        </p:nvSpPr>
        <p:spPr>
          <a:xfrm>
            <a:off x="6096000" y="616122"/>
            <a:ext cx="5669280" cy="5479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FFFFFF"/>
                </a:solidFill>
              </a:rPr>
              <a:t>import cv2 # See video 1 for installation</a:t>
            </a:r>
          </a:p>
          <a:p>
            <a:endParaRPr lang="en-US" sz="1067" b="1" dirty="0">
              <a:solidFill>
                <a:srgbClr val="FFFFFF"/>
              </a:solidFill>
            </a:endParaRPr>
          </a:p>
          <a:p>
            <a:r>
              <a:rPr lang="en-US" sz="1067" b="1" dirty="0">
                <a:solidFill>
                  <a:srgbClr val="FFFFFF"/>
                </a:solidFill>
              </a:rPr>
              <a:t># Replace "0" with a file path to work with a saved video</a:t>
            </a:r>
          </a:p>
          <a:p>
            <a:r>
              <a:rPr lang="en-US" sz="1067" b="1" dirty="0">
                <a:solidFill>
                  <a:srgbClr val="FFFFFF"/>
                </a:solidFill>
              </a:rPr>
              <a:t>stream = cv2.VideoCapture(0)</a:t>
            </a:r>
          </a:p>
          <a:p>
            <a:endParaRPr lang="en-US" sz="1067" b="1" dirty="0">
              <a:solidFill>
                <a:srgbClr val="FFFFFF"/>
              </a:solidFill>
            </a:endParaRPr>
          </a:p>
          <a:p>
            <a:r>
              <a:rPr lang="en-US" sz="1067" b="1" dirty="0">
                <a:solidFill>
                  <a:srgbClr val="FFFFFF"/>
                </a:solidFill>
              </a:rPr>
              <a:t>if not </a:t>
            </a:r>
            <a:r>
              <a:rPr lang="en-US" sz="1067" b="1" dirty="0" err="1">
                <a:solidFill>
                  <a:srgbClr val="FFFFFF"/>
                </a:solidFill>
              </a:rPr>
              <a:t>stream.isOpened</a:t>
            </a:r>
            <a:r>
              <a:rPr lang="en-US" sz="1067" b="1" dirty="0">
                <a:solidFill>
                  <a:srgbClr val="FFFFFF"/>
                </a:solidFill>
              </a:rPr>
              <a:t>():</a:t>
            </a:r>
          </a:p>
          <a:p>
            <a:r>
              <a:rPr lang="en-US" sz="1067" b="1" dirty="0">
                <a:solidFill>
                  <a:srgbClr val="FFFFFF"/>
                </a:solidFill>
              </a:rPr>
              <a:t>    print("No stream :(")</a:t>
            </a:r>
          </a:p>
          <a:p>
            <a:r>
              <a:rPr lang="en-US" sz="1067" b="1" dirty="0">
                <a:solidFill>
                  <a:srgbClr val="FFFFFF"/>
                </a:solidFill>
              </a:rPr>
              <a:t>    exit()</a:t>
            </a:r>
          </a:p>
          <a:p>
            <a:endParaRPr lang="en-US" sz="1067" b="1" dirty="0">
              <a:solidFill>
                <a:srgbClr val="FFFFFF"/>
              </a:solidFill>
            </a:endParaRPr>
          </a:p>
          <a:p>
            <a:r>
              <a:rPr lang="en-US" sz="1067" b="1" dirty="0">
                <a:solidFill>
                  <a:srgbClr val="FFFFFF"/>
                </a:solidFill>
              </a:rPr>
              <a:t>fps = </a:t>
            </a:r>
            <a:r>
              <a:rPr lang="en-US" sz="1067" b="1" dirty="0" err="1">
                <a:solidFill>
                  <a:srgbClr val="FFFFFF"/>
                </a:solidFill>
              </a:rPr>
              <a:t>stream.get</a:t>
            </a:r>
            <a:r>
              <a:rPr lang="en-US" sz="1067" b="1" dirty="0">
                <a:solidFill>
                  <a:srgbClr val="FFFFFF"/>
                </a:solidFill>
              </a:rPr>
              <a:t>(cv2.CAP_PROP_FPS)</a:t>
            </a:r>
          </a:p>
          <a:p>
            <a:r>
              <a:rPr lang="en-US" sz="1067" b="1" dirty="0">
                <a:solidFill>
                  <a:srgbClr val="FFFFFF"/>
                </a:solidFill>
              </a:rPr>
              <a:t>width = </a:t>
            </a:r>
            <a:r>
              <a:rPr lang="en-US" sz="1067" b="1" dirty="0" err="1">
                <a:solidFill>
                  <a:srgbClr val="FFFFFF"/>
                </a:solidFill>
              </a:rPr>
              <a:t>int</a:t>
            </a:r>
            <a:r>
              <a:rPr lang="en-US" sz="1067" b="1" dirty="0">
                <a:solidFill>
                  <a:srgbClr val="FFFFFF"/>
                </a:solidFill>
              </a:rPr>
              <a:t>(</a:t>
            </a:r>
            <a:r>
              <a:rPr lang="en-US" sz="1067" b="1" dirty="0" err="1">
                <a:solidFill>
                  <a:srgbClr val="FFFFFF"/>
                </a:solidFill>
              </a:rPr>
              <a:t>stream.get</a:t>
            </a:r>
            <a:r>
              <a:rPr lang="en-US" sz="1067" b="1" dirty="0">
                <a:solidFill>
                  <a:srgbClr val="FFFFFF"/>
                </a:solidFill>
              </a:rPr>
              <a:t>(3))</a:t>
            </a:r>
          </a:p>
          <a:p>
            <a:r>
              <a:rPr lang="en-US" sz="1067" b="1" dirty="0">
                <a:solidFill>
                  <a:srgbClr val="FFFFFF"/>
                </a:solidFill>
              </a:rPr>
              <a:t>height = </a:t>
            </a:r>
            <a:r>
              <a:rPr lang="en-US" sz="1067" b="1" dirty="0" err="1">
                <a:solidFill>
                  <a:srgbClr val="FFFFFF"/>
                </a:solidFill>
              </a:rPr>
              <a:t>int</a:t>
            </a:r>
            <a:r>
              <a:rPr lang="en-US" sz="1067" b="1" dirty="0">
                <a:solidFill>
                  <a:srgbClr val="FFFFFF"/>
                </a:solidFill>
              </a:rPr>
              <a:t>(</a:t>
            </a:r>
            <a:r>
              <a:rPr lang="en-US" sz="1067" b="1" dirty="0" err="1">
                <a:solidFill>
                  <a:srgbClr val="FFFFFF"/>
                </a:solidFill>
              </a:rPr>
              <a:t>stream.get</a:t>
            </a:r>
            <a:r>
              <a:rPr lang="en-US" sz="1067" b="1" dirty="0">
                <a:solidFill>
                  <a:srgbClr val="FFFFFF"/>
                </a:solidFill>
              </a:rPr>
              <a:t>(4))</a:t>
            </a:r>
          </a:p>
          <a:p>
            <a:endParaRPr lang="en-US" sz="1067" b="1" dirty="0">
              <a:solidFill>
                <a:srgbClr val="FFFFFF"/>
              </a:solidFill>
            </a:endParaRPr>
          </a:p>
          <a:p>
            <a:r>
              <a:rPr lang="en-US" sz="1067" b="1" dirty="0">
                <a:solidFill>
                  <a:srgbClr val="FFFFFF"/>
                </a:solidFill>
              </a:rPr>
              <a:t># list of </a:t>
            </a:r>
            <a:r>
              <a:rPr lang="en-US" sz="1067" b="1" dirty="0" err="1">
                <a:solidFill>
                  <a:srgbClr val="FFFFFF"/>
                </a:solidFill>
              </a:rPr>
              <a:t>FourCC</a:t>
            </a:r>
            <a:r>
              <a:rPr lang="en-US" sz="1067" b="1" dirty="0">
                <a:solidFill>
                  <a:srgbClr val="FFFFFF"/>
                </a:solidFill>
              </a:rPr>
              <a:t> video codes: https://softron.zendesk.com/hc/en-us/articles/207695697-List-of-FourCC-codes-for-video-codecs</a:t>
            </a:r>
          </a:p>
          <a:p>
            <a:r>
              <a:rPr lang="en-US" sz="1067" b="1" dirty="0">
                <a:solidFill>
                  <a:srgbClr val="FFFFFF"/>
                </a:solidFill>
              </a:rPr>
              <a:t>output = cv2.VideoWriter("assets/4_stream.mp4",</a:t>
            </a:r>
          </a:p>
          <a:p>
            <a:r>
              <a:rPr lang="en-US" sz="1067" b="1" dirty="0">
                <a:solidFill>
                  <a:srgbClr val="FFFFFF"/>
                </a:solidFill>
              </a:rPr>
              <a:t>            cv2.VideoWriter_fourcc('m', 'p', '4', 'v'),</a:t>
            </a:r>
          </a:p>
          <a:p>
            <a:r>
              <a:rPr lang="en-US" sz="1067" b="1" dirty="0">
                <a:solidFill>
                  <a:srgbClr val="FFFFFF"/>
                </a:solidFill>
              </a:rPr>
              <a:t>            fps=fps, </a:t>
            </a:r>
            <a:r>
              <a:rPr lang="en-US" sz="1067" b="1" dirty="0" err="1">
                <a:solidFill>
                  <a:srgbClr val="FFFFFF"/>
                </a:solidFill>
              </a:rPr>
              <a:t>frameSize</a:t>
            </a:r>
            <a:r>
              <a:rPr lang="en-US" sz="1067" b="1" dirty="0">
                <a:solidFill>
                  <a:srgbClr val="FFFFFF"/>
                </a:solidFill>
              </a:rPr>
              <a:t>=(width, height))</a:t>
            </a:r>
          </a:p>
          <a:p>
            <a:endParaRPr lang="en-US" sz="1067" b="1" dirty="0">
              <a:solidFill>
                <a:srgbClr val="FFFFFF"/>
              </a:solidFill>
            </a:endParaRPr>
          </a:p>
          <a:p>
            <a:r>
              <a:rPr lang="en-US" sz="1067" b="1" dirty="0">
                <a:solidFill>
                  <a:srgbClr val="FFFFFF"/>
                </a:solidFill>
              </a:rPr>
              <a:t>while True:</a:t>
            </a:r>
          </a:p>
          <a:p>
            <a:r>
              <a:rPr lang="en-US" sz="1067" b="1" dirty="0">
                <a:solidFill>
                  <a:srgbClr val="FFFFFF"/>
                </a:solidFill>
              </a:rPr>
              <a:t>    ret, frame = </a:t>
            </a:r>
            <a:r>
              <a:rPr lang="en-US" sz="1067" b="1" dirty="0" err="1">
                <a:solidFill>
                  <a:srgbClr val="FFFFFF"/>
                </a:solidFill>
              </a:rPr>
              <a:t>stream.read</a:t>
            </a:r>
            <a:r>
              <a:rPr lang="en-US" sz="1067" b="1" dirty="0">
                <a:solidFill>
                  <a:srgbClr val="FFFFFF"/>
                </a:solidFill>
              </a:rPr>
              <a:t>()</a:t>
            </a:r>
          </a:p>
          <a:p>
            <a:r>
              <a:rPr lang="en-US" sz="1067" b="1" dirty="0">
                <a:solidFill>
                  <a:srgbClr val="FFFFFF"/>
                </a:solidFill>
              </a:rPr>
              <a:t>    if not ret: # if no frames are returned</a:t>
            </a:r>
          </a:p>
          <a:p>
            <a:r>
              <a:rPr lang="en-US" sz="1067" b="1" dirty="0">
                <a:solidFill>
                  <a:srgbClr val="FFFFFF"/>
                </a:solidFill>
              </a:rPr>
              <a:t>        print("No more stream :(")</a:t>
            </a:r>
          </a:p>
          <a:p>
            <a:r>
              <a:rPr lang="en-US" sz="1067" b="1" dirty="0">
                <a:solidFill>
                  <a:srgbClr val="FFFFFF"/>
                </a:solidFill>
              </a:rPr>
              <a:t>        break</a:t>
            </a:r>
          </a:p>
          <a:p>
            <a:r>
              <a:rPr lang="en-US" sz="1067" b="1" dirty="0">
                <a:solidFill>
                  <a:srgbClr val="FFFFFF"/>
                </a:solidFill>
              </a:rPr>
              <a:t>    </a:t>
            </a:r>
          </a:p>
          <a:p>
            <a:r>
              <a:rPr lang="en-US" sz="1067" b="1" dirty="0">
                <a:solidFill>
                  <a:srgbClr val="FFFFFF"/>
                </a:solidFill>
              </a:rPr>
              <a:t>    frame = cv2.resize(frame, (width, height))</a:t>
            </a:r>
          </a:p>
          <a:p>
            <a:r>
              <a:rPr lang="en-US" sz="1067" b="1" dirty="0">
                <a:solidFill>
                  <a:srgbClr val="FFFFFF"/>
                </a:solidFill>
              </a:rPr>
              <a:t>    </a:t>
            </a:r>
            <a:r>
              <a:rPr lang="en-US" sz="1067" b="1" dirty="0" err="1">
                <a:solidFill>
                  <a:srgbClr val="FFFFFF"/>
                </a:solidFill>
              </a:rPr>
              <a:t>output.write</a:t>
            </a:r>
            <a:r>
              <a:rPr lang="en-US" sz="1067" b="1" dirty="0">
                <a:solidFill>
                  <a:srgbClr val="FFFFFF"/>
                </a:solidFill>
              </a:rPr>
              <a:t>(frame)</a:t>
            </a:r>
          </a:p>
          <a:p>
            <a:r>
              <a:rPr lang="en-US" sz="1067" b="1" dirty="0">
                <a:solidFill>
                  <a:srgbClr val="FFFFFF"/>
                </a:solidFill>
              </a:rPr>
              <a:t>    cv2.imshow("Webcam!", frame)</a:t>
            </a:r>
          </a:p>
          <a:p>
            <a:r>
              <a:rPr lang="en-US" sz="1067" b="1" dirty="0">
                <a:solidFill>
                  <a:srgbClr val="FFFFFF"/>
                </a:solidFill>
              </a:rPr>
              <a:t>    if cv2.waitKey(1) == </a:t>
            </a:r>
            <a:r>
              <a:rPr lang="en-US" sz="1067" b="1" dirty="0" err="1">
                <a:solidFill>
                  <a:srgbClr val="FFFFFF"/>
                </a:solidFill>
              </a:rPr>
              <a:t>ord</a:t>
            </a:r>
            <a:r>
              <a:rPr lang="en-US" sz="1067" b="1" dirty="0">
                <a:solidFill>
                  <a:srgbClr val="FFFFFF"/>
                </a:solidFill>
              </a:rPr>
              <a:t>('q'): # press "q" to quit</a:t>
            </a:r>
          </a:p>
          <a:p>
            <a:r>
              <a:rPr lang="en-US" sz="1067" b="1" dirty="0">
                <a:solidFill>
                  <a:srgbClr val="FFFFFF"/>
                </a:solidFill>
              </a:rPr>
              <a:t>        break</a:t>
            </a:r>
          </a:p>
          <a:p>
            <a:endParaRPr lang="en-US" sz="1067" b="1" dirty="0">
              <a:solidFill>
                <a:srgbClr val="FFFFFF"/>
              </a:solidFill>
            </a:endParaRPr>
          </a:p>
          <a:p>
            <a:r>
              <a:rPr lang="en-US" sz="1067" b="1" dirty="0" err="1">
                <a:solidFill>
                  <a:srgbClr val="FFFFFF"/>
                </a:solidFill>
              </a:rPr>
              <a:t>stream.release</a:t>
            </a:r>
            <a:r>
              <a:rPr lang="en-US" sz="1067" b="1" dirty="0">
                <a:solidFill>
                  <a:srgbClr val="FFFFFF"/>
                </a:solidFill>
              </a:rPr>
              <a:t>()</a:t>
            </a:r>
          </a:p>
          <a:p>
            <a:r>
              <a:rPr lang="en-US" sz="1067" b="1" dirty="0">
                <a:solidFill>
                  <a:srgbClr val="FFFFFF"/>
                </a:solidFill>
              </a:rPr>
              <a:t>cv2.destroyAllWindows() #!</a:t>
            </a:r>
            <a:endParaRPr lang="en-US" sz="1067" dirty="0"/>
          </a:p>
        </p:txBody>
      </p:sp>
      <p:sp>
        <p:nvSpPr>
          <p:cNvPr id="29" name="Shape 27"/>
          <p:cNvSpPr/>
          <p:nvPr/>
        </p:nvSpPr>
        <p:spPr>
          <a:xfrm>
            <a:off x="0" y="6339840"/>
            <a:ext cx="12192000" cy="51816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9600" y="6339840"/>
            <a:ext cx="10972800" cy="518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666666"/>
                </a:solidFill>
              </a:rPr>
              <a:t>Emotion Detection System  •  Theoretical Background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7155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04800"/>
            <a:ext cx="1950720" cy="3413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04800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</a:rPr>
              <a:t>Prob2</a:t>
            </a:r>
            <a:endParaRPr lang="en-US" sz="1067" dirty="0"/>
          </a:p>
        </p:txBody>
      </p:sp>
      <p:sp>
        <p:nvSpPr>
          <p:cNvPr id="5" name="Text 3"/>
          <p:cNvSpPr/>
          <p:nvPr/>
        </p:nvSpPr>
        <p:spPr>
          <a:xfrm>
            <a:off x="365760" y="638663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Algorithm – faces</a:t>
            </a:r>
            <a:endParaRPr lang="en-US" sz="4267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5242560" cy="1672856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92440"/>
            <a:ext cx="5242560" cy="512064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0635" y="1372848"/>
            <a:ext cx="5242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Problem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548640" y="2438400"/>
            <a:ext cx="4876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5000"/>
              </a:lnSpc>
            </a:pPr>
            <a:r>
              <a:rPr lang="en-US" sz="1600" dirty="0">
                <a:solidFill>
                  <a:srgbClr val="CCCCCC"/>
                </a:solidFill>
              </a:rPr>
              <a:t>How will we know where face at?</a:t>
            </a:r>
          </a:p>
          <a:p>
            <a:r>
              <a:rPr lang="en-US" sz="1600" dirty="0">
                <a:solidFill>
                  <a:srgbClr val="999999"/>
                </a:solidFill>
              </a:rPr>
              <a:t>Found research paper </a:t>
            </a:r>
            <a:r>
              <a:rPr lang="en-US" sz="1600" dirty="0">
                <a:solidFill>
                  <a:srgbClr val="999999"/>
                </a:solidFill>
              </a:rPr>
              <a:t>(</a:t>
            </a:r>
            <a:r>
              <a:rPr lang="en-US" sz="1600" b="1" dirty="0">
                <a:solidFill>
                  <a:srgbClr val="999999"/>
                </a:solidFill>
              </a:rPr>
              <a:t>Robust Real-time Object </a:t>
            </a:r>
            <a:r>
              <a:rPr lang="en-US" sz="1600" b="1" dirty="0">
                <a:solidFill>
                  <a:srgbClr val="999999"/>
                </a:solidFill>
              </a:rPr>
              <a:t>Detection – </a:t>
            </a:r>
            <a:r>
              <a:rPr lang="en-US" sz="1600" b="1" dirty="0">
                <a:solidFill>
                  <a:srgbClr val="999999"/>
                </a:solidFill>
              </a:rPr>
              <a:t>Paul Viola, Michael Jones</a:t>
            </a:r>
            <a:r>
              <a:rPr lang="en-US" sz="1600" dirty="0">
                <a:solidFill>
                  <a:srgbClr val="999999"/>
                </a:solidFill>
              </a:rPr>
              <a:t>) + </a:t>
            </a:r>
            <a:r>
              <a:rPr lang="en-US" sz="1600" dirty="0">
                <a:solidFill>
                  <a:srgbClr val="999999"/>
                </a:solidFill>
                <a:hlinkClick r:id="rId3"/>
              </a:rPr>
              <a:t>link</a:t>
            </a:r>
            <a:endParaRPr lang="en-US" sz="1600" dirty="0">
              <a:solidFill>
                <a:srgbClr val="999999"/>
              </a:solidFill>
            </a:endParaRPr>
          </a:p>
          <a:p>
            <a:r>
              <a:rPr lang="en-US" sz="1600" dirty="0">
                <a:solidFill>
                  <a:srgbClr val="999999"/>
                </a:solidFill>
              </a:rPr>
              <a:t>OMG official </a:t>
            </a:r>
            <a:r>
              <a:rPr lang="en-US" sz="1600" dirty="0">
                <a:solidFill>
                  <a:srgbClr val="999999"/>
                </a:solidFill>
                <a:hlinkClick r:id="rId4"/>
              </a:rPr>
              <a:t>website</a:t>
            </a:r>
            <a:endParaRPr lang="en-US" sz="1600" dirty="0">
              <a:solidFill>
                <a:srgbClr val="999999"/>
              </a:solidFill>
            </a:endParaRPr>
          </a:p>
          <a:p>
            <a:pPr>
              <a:lnSpc>
                <a:spcPct val="135000"/>
              </a:lnSpc>
            </a:pPr>
            <a:endParaRPr lang="en-US" sz="1600" dirty="0">
              <a:solidFill>
                <a:srgbClr val="CCCCCC"/>
              </a:solidFill>
            </a:endParaRPr>
          </a:p>
          <a:p>
            <a:pPr>
              <a:lnSpc>
                <a:spcPct val="135000"/>
              </a:lnSpc>
            </a:pPr>
            <a:endParaRPr lang="en-US" sz="1600" dirty="0">
              <a:solidFill>
                <a:srgbClr val="CCCCCC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30787" y="120504"/>
            <a:ext cx="5852160" cy="5975497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0787" y="120503"/>
            <a:ext cx="5852160" cy="512064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0787" y="132553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Solution (?)</a:t>
            </a:r>
            <a:endParaRPr lang="en-US" sz="1733" dirty="0"/>
          </a:p>
        </p:txBody>
      </p:sp>
      <p:sp>
        <p:nvSpPr>
          <p:cNvPr id="22" name="Text 20"/>
          <p:cNvSpPr/>
          <p:nvPr/>
        </p:nvSpPr>
        <p:spPr>
          <a:xfrm>
            <a:off x="6096000" y="2438400"/>
            <a:ext cx="5669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67" dirty="0">
              <a:solidFill>
                <a:srgbClr val="999999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0" y="6339840"/>
            <a:ext cx="12192000" cy="51816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9600" y="6339840"/>
            <a:ext cx="10972800" cy="518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666666"/>
                </a:solidFill>
              </a:rPr>
              <a:t>Emotion Detection System  •  Theoretical Background</a:t>
            </a:r>
            <a:endParaRPr lang="en-US" sz="1200" dirty="0"/>
          </a:p>
        </p:txBody>
      </p:sp>
      <p:sp>
        <p:nvSpPr>
          <p:cNvPr id="16" name="Text 7"/>
          <p:cNvSpPr/>
          <p:nvPr/>
        </p:nvSpPr>
        <p:spPr>
          <a:xfrm>
            <a:off x="6518467" y="635974"/>
            <a:ext cx="4876800" cy="532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04792" indent="-304792">
              <a:lnSpc>
                <a:spcPct val="135000"/>
              </a:lnSpc>
              <a:buAutoNum type="arabicPeriod"/>
            </a:pPr>
            <a:r>
              <a:rPr lang="en-US" sz="1600" dirty="0">
                <a:solidFill>
                  <a:srgbClr val="CCCCCC"/>
                </a:solidFill>
              </a:rPr>
              <a:t>Color based</a:t>
            </a:r>
          </a:p>
          <a:p>
            <a:pPr>
              <a:lnSpc>
                <a:spcPct val="135000"/>
              </a:lnSpc>
            </a:pPr>
            <a:endParaRPr lang="en-US" sz="1600" dirty="0">
              <a:solidFill>
                <a:srgbClr val="CCCCCC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1921" y="888457"/>
            <a:ext cx="5649891" cy="147353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0835" y="2783994"/>
            <a:ext cx="3967048" cy="1148529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6565959" y="2315398"/>
            <a:ext cx="4876800" cy="532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5000"/>
              </a:lnSpc>
            </a:pPr>
            <a:r>
              <a:rPr lang="en-US" sz="1600" dirty="0">
                <a:solidFill>
                  <a:srgbClr val="CCCCCC"/>
                </a:solidFill>
              </a:rPr>
              <a:t>2. Gaze detection – Face mask needed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0467" y="4464876"/>
            <a:ext cx="4317416" cy="1306488"/>
          </a:xfrm>
          <a:prstGeom prst="rect">
            <a:avLst/>
          </a:prstGeom>
        </p:spPr>
      </p:pic>
      <p:sp>
        <p:nvSpPr>
          <p:cNvPr id="21" name="Text 7"/>
          <p:cNvSpPr/>
          <p:nvPr/>
        </p:nvSpPr>
        <p:spPr>
          <a:xfrm>
            <a:off x="6616003" y="3874072"/>
            <a:ext cx="4876800" cy="532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5000"/>
              </a:lnSpc>
            </a:pPr>
            <a:r>
              <a:rPr lang="en-US" sz="1600" dirty="0">
                <a:solidFill>
                  <a:srgbClr val="CCCCCC"/>
                </a:solidFill>
              </a:rPr>
              <a:t>3</a:t>
            </a:r>
            <a:r>
              <a:rPr lang="en-US" sz="1600" dirty="0">
                <a:solidFill>
                  <a:srgbClr val="CCCCCC"/>
                </a:solidFill>
              </a:rPr>
              <a:t>. Viola and Jones – TODO: Read whatever face </a:t>
            </a:r>
            <a:r>
              <a:rPr lang="en-US" sz="1600" dirty="0" err="1">
                <a:solidFill>
                  <a:srgbClr val="CCCCCC"/>
                </a:solidFill>
              </a:rPr>
              <a:t>asta</a:t>
            </a:r>
            <a:endParaRPr lang="en-US" sz="1600" dirty="0">
              <a:solidFill>
                <a:srgbClr val="CCCCCC"/>
              </a:solidFill>
            </a:endParaRPr>
          </a:p>
        </p:txBody>
      </p:sp>
      <p:sp>
        <p:nvSpPr>
          <p:cNvPr id="23" name="Shape 8"/>
          <p:cNvSpPr/>
          <p:nvPr/>
        </p:nvSpPr>
        <p:spPr>
          <a:xfrm>
            <a:off x="211517" y="3599193"/>
            <a:ext cx="5800275" cy="2496807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7"/>
          <p:cNvSpPr/>
          <p:nvPr/>
        </p:nvSpPr>
        <p:spPr>
          <a:xfrm>
            <a:off x="2118006" y="3607902"/>
            <a:ext cx="1738068" cy="532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5000"/>
              </a:lnSpc>
            </a:pPr>
            <a:r>
              <a:rPr lang="en-US" sz="1600" dirty="0">
                <a:solidFill>
                  <a:srgbClr val="CCCCCC"/>
                </a:solidFill>
              </a:rPr>
              <a:t>4. Deep learning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235" y="4130480"/>
            <a:ext cx="3971608" cy="116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927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04800"/>
            <a:ext cx="1950720" cy="3413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04800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</a:rPr>
              <a:t>Prob2</a:t>
            </a:r>
            <a:endParaRPr lang="en-US" sz="1067" dirty="0"/>
          </a:p>
        </p:txBody>
      </p:sp>
      <p:sp>
        <p:nvSpPr>
          <p:cNvPr id="5" name="Text 3"/>
          <p:cNvSpPr/>
          <p:nvPr/>
        </p:nvSpPr>
        <p:spPr>
          <a:xfrm>
            <a:off x="365760" y="1258147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Algorithm – emo’</a:t>
            </a:r>
            <a:endParaRPr lang="en-US" sz="4267" dirty="0"/>
          </a:p>
        </p:txBody>
      </p:sp>
      <p:sp>
        <p:nvSpPr>
          <p:cNvPr id="6" name="Shape 4"/>
          <p:cNvSpPr/>
          <p:nvPr/>
        </p:nvSpPr>
        <p:spPr>
          <a:xfrm>
            <a:off x="459703" y="2745383"/>
            <a:ext cx="5242560" cy="1672856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9703" y="2309023"/>
            <a:ext cx="5242560" cy="512064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4577" y="2289431"/>
            <a:ext cx="5242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Problem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627457" y="3000267"/>
            <a:ext cx="4876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5000"/>
              </a:lnSpc>
            </a:pPr>
            <a:r>
              <a:rPr lang="en-US" sz="1600" dirty="0">
                <a:solidFill>
                  <a:srgbClr val="CCCCCC"/>
                </a:solidFill>
              </a:rPr>
              <a:t>How are emotions classified?</a:t>
            </a:r>
          </a:p>
          <a:p>
            <a:pPr>
              <a:lnSpc>
                <a:spcPct val="135000"/>
              </a:lnSpc>
            </a:pPr>
            <a:r>
              <a:rPr lang="en-US" sz="1600" dirty="0">
                <a:solidFill>
                  <a:srgbClr val="CCCCCC"/>
                </a:solidFill>
              </a:rPr>
              <a:t>Research paper: </a:t>
            </a:r>
            <a:r>
              <a:rPr lang="en-US" sz="1600" b="1" dirty="0">
                <a:solidFill>
                  <a:srgbClr val="CCCCCC"/>
                </a:solidFill>
              </a:rPr>
              <a:t>Facial emotion recognition using deep learning: review and insights </a:t>
            </a:r>
            <a:r>
              <a:rPr lang="en-US" sz="1600" b="1" dirty="0">
                <a:solidFill>
                  <a:srgbClr val="CCCCCC"/>
                </a:solidFill>
              </a:rPr>
              <a:t>- </a:t>
            </a:r>
            <a:r>
              <a:rPr lang="en-US" sz="1600" b="1" dirty="0" err="1">
                <a:solidFill>
                  <a:srgbClr val="CCCCCC"/>
                </a:solidFill>
              </a:rPr>
              <a:t>Wafa</a:t>
            </a:r>
            <a:r>
              <a:rPr lang="en-US" sz="1600" b="1" dirty="0">
                <a:solidFill>
                  <a:srgbClr val="CCCCCC"/>
                </a:solidFill>
              </a:rPr>
              <a:t> </a:t>
            </a:r>
            <a:r>
              <a:rPr lang="en-US" sz="1600" b="1" dirty="0" err="1">
                <a:solidFill>
                  <a:srgbClr val="CCCCCC"/>
                </a:solidFill>
              </a:rPr>
              <a:t>Mellouk</a:t>
            </a:r>
            <a:r>
              <a:rPr lang="en-US" sz="1600" b="1" dirty="0">
                <a:solidFill>
                  <a:srgbClr val="CCCCCC"/>
                </a:solidFill>
              </a:rPr>
              <a:t>, </a:t>
            </a:r>
            <a:r>
              <a:rPr lang="en-US" sz="1600" b="1" dirty="0" err="1">
                <a:solidFill>
                  <a:srgbClr val="CCCCCC"/>
                </a:solidFill>
              </a:rPr>
              <a:t>Wahida</a:t>
            </a:r>
            <a:r>
              <a:rPr lang="en-US" sz="1600" b="1" dirty="0">
                <a:solidFill>
                  <a:srgbClr val="CCCCCC"/>
                </a:solidFill>
              </a:rPr>
              <a:t> </a:t>
            </a:r>
            <a:r>
              <a:rPr lang="en-US" sz="1600" b="1" dirty="0" err="1">
                <a:solidFill>
                  <a:srgbClr val="CCCCCC"/>
                </a:solidFill>
              </a:rPr>
              <a:t>Handouzi</a:t>
            </a:r>
            <a:endParaRPr lang="en-US" sz="1600" b="1" dirty="0">
              <a:solidFill>
                <a:srgbClr val="CCCCCC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30787" y="120504"/>
            <a:ext cx="5852160" cy="5975497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0787" y="120503"/>
            <a:ext cx="5852160" cy="512064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0787" y="132553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Solution (?)</a:t>
            </a:r>
            <a:endParaRPr lang="en-US" sz="1733" dirty="0"/>
          </a:p>
        </p:txBody>
      </p:sp>
      <p:sp>
        <p:nvSpPr>
          <p:cNvPr id="22" name="Text 20"/>
          <p:cNvSpPr/>
          <p:nvPr/>
        </p:nvSpPr>
        <p:spPr>
          <a:xfrm>
            <a:off x="6096000" y="2438400"/>
            <a:ext cx="5669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67" dirty="0">
              <a:solidFill>
                <a:srgbClr val="999999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0" y="6339840"/>
            <a:ext cx="12192000" cy="51816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9600" y="6339840"/>
            <a:ext cx="10972800" cy="518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666666"/>
                </a:solidFill>
              </a:rPr>
              <a:t>Emotion Detection System  •  Theoretical Background</a:t>
            </a:r>
            <a:endParaRPr lang="en-US" sz="1200" dirty="0"/>
          </a:p>
        </p:txBody>
      </p:sp>
      <p:sp>
        <p:nvSpPr>
          <p:cNvPr id="16" name="Text 7"/>
          <p:cNvSpPr/>
          <p:nvPr/>
        </p:nvSpPr>
        <p:spPr>
          <a:xfrm>
            <a:off x="6518467" y="635974"/>
            <a:ext cx="4876800" cy="532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04792" indent="-304792">
              <a:lnSpc>
                <a:spcPct val="135000"/>
              </a:lnSpc>
              <a:buAutoNum type="arabicPeriod"/>
            </a:pPr>
            <a:r>
              <a:rPr lang="en-US" sz="1600" dirty="0">
                <a:solidFill>
                  <a:srgbClr val="CCCCCC"/>
                </a:solidFill>
              </a:rPr>
              <a:t>Proposal 1 – From paper (692)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124" y="1133189"/>
            <a:ext cx="4478864" cy="2177081"/>
          </a:xfrm>
          <a:prstGeom prst="rect">
            <a:avLst/>
          </a:prstGeom>
        </p:spPr>
      </p:pic>
      <p:sp>
        <p:nvSpPr>
          <p:cNvPr id="26" name="Text 7"/>
          <p:cNvSpPr/>
          <p:nvPr/>
        </p:nvSpPr>
        <p:spPr>
          <a:xfrm>
            <a:off x="6511940" y="3334656"/>
            <a:ext cx="4876800" cy="532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5000"/>
              </a:lnSpc>
            </a:pPr>
            <a:r>
              <a:rPr lang="en-US" sz="1600" dirty="0">
                <a:solidFill>
                  <a:srgbClr val="CCCCCC"/>
                </a:solidFill>
              </a:rPr>
              <a:t>2.     Proposal </a:t>
            </a:r>
            <a:r>
              <a:rPr lang="en-US" sz="1600" dirty="0">
                <a:solidFill>
                  <a:srgbClr val="CCCCCC"/>
                </a:solidFill>
              </a:rPr>
              <a:t>2</a:t>
            </a:r>
            <a:r>
              <a:rPr lang="en-US" sz="1600" dirty="0">
                <a:solidFill>
                  <a:srgbClr val="CCCCCC"/>
                </a:solidFill>
              </a:rPr>
              <a:t> – From paper (692)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4775" y="3798841"/>
            <a:ext cx="3724320" cy="22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148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04800"/>
            <a:ext cx="1950720" cy="3413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04800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</a:rPr>
              <a:t>DATASET</a:t>
            </a:r>
            <a:endParaRPr lang="en-US" sz="1067" dirty="0"/>
          </a:p>
        </p:txBody>
      </p:sp>
      <p:sp>
        <p:nvSpPr>
          <p:cNvPr id="5" name="Text 3"/>
          <p:cNvSpPr/>
          <p:nvPr/>
        </p:nvSpPr>
        <p:spPr>
          <a:xfrm>
            <a:off x="365760" y="79248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FER2013 Dataset</a:t>
            </a:r>
            <a:endParaRPr lang="en-US" sz="4267" dirty="0"/>
          </a:p>
        </p:txBody>
      </p:sp>
      <p:sp>
        <p:nvSpPr>
          <p:cNvPr id="6" name="Shape 4"/>
          <p:cNvSpPr/>
          <p:nvPr/>
        </p:nvSpPr>
        <p:spPr>
          <a:xfrm>
            <a:off x="365760" y="1767840"/>
            <a:ext cx="2560320" cy="1158240"/>
          </a:xfrm>
          <a:prstGeom prst="rect">
            <a:avLst/>
          </a:prstGeom>
          <a:solidFill>
            <a:srgbClr val="8B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</a:rPr>
              <a:t>~35,000</a:t>
            </a:r>
            <a:endParaRPr lang="en-US" sz="2667" dirty="0"/>
          </a:p>
        </p:txBody>
      </p:sp>
      <p:sp>
        <p:nvSpPr>
          <p:cNvPr id="8" name="Text 6"/>
          <p:cNvSpPr/>
          <p:nvPr/>
        </p:nvSpPr>
        <p:spPr>
          <a:xfrm>
            <a:off x="365760" y="2353056"/>
            <a:ext cx="25603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AAAA"/>
                </a:solidFill>
              </a:rPr>
              <a:t>Total Images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30880" y="1767840"/>
            <a:ext cx="2560320" cy="115824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3088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</a:rPr>
              <a:t>48 × 48</a:t>
            </a:r>
            <a:endParaRPr lang="en-US" sz="2667" dirty="0"/>
          </a:p>
        </p:txBody>
      </p:sp>
      <p:sp>
        <p:nvSpPr>
          <p:cNvPr id="11" name="Text 9"/>
          <p:cNvSpPr/>
          <p:nvPr/>
        </p:nvSpPr>
        <p:spPr>
          <a:xfrm>
            <a:off x="3230880" y="2353056"/>
            <a:ext cx="25603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888888"/>
                </a:solidFill>
              </a:rPr>
              <a:t>Pixel Resolution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767840"/>
            <a:ext cx="2560320" cy="115824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9600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</a:rPr>
              <a:t>7</a:t>
            </a:r>
            <a:endParaRPr lang="en-US" sz="2667" dirty="0"/>
          </a:p>
        </p:txBody>
      </p:sp>
      <p:sp>
        <p:nvSpPr>
          <p:cNvPr id="14" name="Text 12"/>
          <p:cNvSpPr/>
          <p:nvPr/>
        </p:nvSpPr>
        <p:spPr>
          <a:xfrm>
            <a:off x="6096000" y="2353056"/>
            <a:ext cx="25603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888888"/>
                </a:solidFill>
              </a:rPr>
              <a:t>Emotion Classes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61120" y="1767840"/>
            <a:ext cx="2560320" cy="115824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</a:rPr>
              <a:t>Grayscale</a:t>
            </a:r>
            <a:endParaRPr lang="en-US" sz="2667" dirty="0"/>
          </a:p>
        </p:txBody>
      </p:sp>
      <p:sp>
        <p:nvSpPr>
          <p:cNvPr id="17" name="Text 15"/>
          <p:cNvSpPr/>
          <p:nvPr/>
        </p:nvSpPr>
        <p:spPr>
          <a:xfrm>
            <a:off x="8961120" y="2353056"/>
            <a:ext cx="25603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888888"/>
                </a:solidFill>
              </a:rPr>
              <a:t>Color Space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3169920"/>
            <a:ext cx="6096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</a:rPr>
              <a:t>Emotion </a:t>
            </a:r>
            <a:r>
              <a:rPr lang="en-US" sz="1733" b="1" dirty="0">
                <a:solidFill>
                  <a:srgbClr val="FFFFFF"/>
                </a:solidFill>
              </a:rPr>
              <a:t>Classes</a:t>
            </a:r>
            <a:endParaRPr lang="en-US" sz="1733" dirty="0"/>
          </a:p>
        </p:txBody>
      </p:sp>
      <p:sp>
        <p:nvSpPr>
          <p:cNvPr id="19" name="Shape 17"/>
          <p:cNvSpPr/>
          <p:nvPr/>
        </p:nvSpPr>
        <p:spPr>
          <a:xfrm>
            <a:off x="365760" y="3718560"/>
            <a:ext cx="1645920" cy="79248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718560"/>
            <a:ext cx="969264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FFFFFF"/>
                </a:solidFill>
              </a:rPr>
              <a:t>Angry</a:t>
            </a:r>
            <a:endParaRPr lang="en-US" sz="1467" dirty="0"/>
          </a:p>
        </p:txBody>
      </p:sp>
      <p:sp>
        <p:nvSpPr>
          <p:cNvPr id="21" name="Shape 19"/>
          <p:cNvSpPr/>
          <p:nvPr/>
        </p:nvSpPr>
        <p:spPr>
          <a:xfrm>
            <a:off x="2204909" y="3724656"/>
            <a:ext cx="1645920" cy="79248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0" y="3694176"/>
            <a:ext cx="164592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FFFFFF"/>
                </a:solidFill>
              </a:rPr>
              <a:t>Fear</a:t>
            </a:r>
          </a:p>
        </p:txBody>
      </p:sp>
      <p:sp>
        <p:nvSpPr>
          <p:cNvPr id="23" name="Shape 21"/>
          <p:cNvSpPr/>
          <p:nvPr/>
        </p:nvSpPr>
        <p:spPr>
          <a:xfrm>
            <a:off x="4023360" y="3718560"/>
            <a:ext cx="1645920" cy="79248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0" y="3718560"/>
            <a:ext cx="97536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FFFFFF"/>
                </a:solidFill>
              </a:rPr>
              <a:t>Happy</a:t>
            </a:r>
            <a:endParaRPr lang="en-US" sz="1467" dirty="0"/>
          </a:p>
        </p:txBody>
      </p:sp>
      <p:sp>
        <p:nvSpPr>
          <p:cNvPr id="25" name="Shape 23"/>
          <p:cNvSpPr/>
          <p:nvPr/>
        </p:nvSpPr>
        <p:spPr>
          <a:xfrm>
            <a:off x="5852160" y="3718560"/>
            <a:ext cx="1645920" cy="79248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0" y="3718560"/>
            <a:ext cx="164592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FFFFFF"/>
                </a:solidFill>
              </a:rPr>
              <a:t>     Sad</a:t>
            </a:r>
            <a:endParaRPr lang="en-US" sz="1467" dirty="0"/>
          </a:p>
        </p:txBody>
      </p:sp>
      <p:sp>
        <p:nvSpPr>
          <p:cNvPr id="27" name="Shape 25"/>
          <p:cNvSpPr/>
          <p:nvPr/>
        </p:nvSpPr>
        <p:spPr>
          <a:xfrm>
            <a:off x="365760" y="4693920"/>
            <a:ext cx="1645920" cy="79248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693920"/>
            <a:ext cx="969264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FFFFFF"/>
                </a:solidFill>
              </a:rPr>
              <a:t>Surprise</a:t>
            </a:r>
            <a:endParaRPr lang="en-US" sz="1467" dirty="0"/>
          </a:p>
        </p:txBody>
      </p:sp>
      <p:sp>
        <p:nvSpPr>
          <p:cNvPr id="29" name="Shape 27"/>
          <p:cNvSpPr/>
          <p:nvPr/>
        </p:nvSpPr>
        <p:spPr>
          <a:xfrm>
            <a:off x="2194560" y="4693920"/>
            <a:ext cx="1645920" cy="79248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94560" y="4693920"/>
            <a:ext cx="9144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FFFFFF"/>
                </a:solidFill>
              </a:rPr>
              <a:t>Neutral</a:t>
            </a:r>
            <a:endParaRPr lang="en-US" sz="1467" dirty="0"/>
          </a:p>
        </p:txBody>
      </p:sp>
      <p:sp>
        <p:nvSpPr>
          <p:cNvPr id="31" name="Shape 29"/>
          <p:cNvSpPr/>
          <p:nvPr/>
        </p:nvSpPr>
        <p:spPr>
          <a:xfrm>
            <a:off x="4023360" y="4693920"/>
            <a:ext cx="1645920" cy="79248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0" y="4693920"/>
            <a:ext cx="9144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FFFFFF"/>
                </a:solidFill>
              </a:rPr>
              <a:t>Disgust</a:t>
            </a:r>
            <a:endParaRPr lang="en-US" sz="1467" dirty="0"/>
          </a:p>
        </p:txBody>
      </p:sp>
      <p:sp>
        <p:nvSpPr>
          <p:cNvPr id="33" name="Shape 31"/>
          <p:cNvSpPr/>
          <p:nvPr/>
        </p:nvSpPr>
        <p:spPr>
          <a:xfrm>
            <a:off x="7559040" y="3108960"/>
            <a:ext cx="4267200" cy="304800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59040" y="3108960"/>
            <a:ext cx="4267200" cy="463296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59040" y="3108960"/>
            <a:ext cx="42672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Dataset Split</a:t>
            </a:r>
            <a:endParaRPr lang="en-US" sz="1467" dirty="0"/>
          </a:p>
        </p:txBody>
      </p:sp>
      <p:sp>
        <p:nvSpPr>
          <p:cNvPr id="36" name="Shape 34"/>
          <p:cNvSpPr/>
          <p:nvPr/>
        </p:nvSpPr>
        <p:spPr>
          <a:xfrm>
            <a:off x="7727744" y="3818224"/>
            <a:ext cx="2926080" cy="2438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41920" y="37551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</a:rPr>
              <a:t>Training</a:t>
            </a:r>
            <a:endParaRPr lang="en-US" sz="1333" dirty="0"/>
          </a:p>
        </p:txBody>
      </p:sp>
      <p:sp>
        <p:nvSpPr>
          <p:cNvPr id="38" name="Text 36"/>
          <p:cNvSpPr/>
          <p:nvPr/>
        </p:nvSpPr>
        <p:spPr>
          <a:xfrm>
            <a:off x="9723120" y="37734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AAAAAA"/>
                </a:solidFill>
              </a:rPr>
              <a:t>28,709 images</a:t>
            </a:r>
            <a:endParaRPr lang="en-US" sz="1333" dirty="0"/>
          </a:p>
        </p:txBody>
      </p:sp>
      <p:sp>
        <p:nvSpPr>
          <p:cNvPr id="39" name="Shape 37"/>
          <p:cNvSpPr/>
          <p:nvPr/>
        </p:nvSpPr>
        <p:spPr>
          <a:xfrm>
            <a:off x="7741920" y="4572000"/>
            <a:ext cx="731520" cy="2438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41920" y="44866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</a:rPr>
              <a:t>Validation</a:t>
            </a:r>
            <a:endParaRPr lang="en-US" sz="1333" dirty="0"/>
          </a:p>
        </p:txBody>
      </p:sp>
      <p:sp>
        <p:nvSpPr>
          <p:cNvPr id="41" name="Text 39"/>
          <p:cNvSpPr/>
          <p:nvPr/>
        </p:nvSpPr>
        <p:spPr>
          <a:xfrm>
            <a:off x="9631680" y="44866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AAAAAA"/>
                </a:solidFill>
              </a:rPr>
              <a:t>3,589 images</a:t>
            </a:r>
            <a:endParaRPr lang="en-US" sz="1333" dirty="0"/>
          </a:p>
        </p:txBody>
      </p:sp>
      <p:sp>
        <p:nvSpPr>
          <p:cNvPr id="42" name="Shape 40"/>
          <p:cNvSpPr/>
          <p:nvPr/>
        </p:nvSpPr>
        <p:spPr>
          <a:xfrm>
            <a:off x="7741920" y="5303520"/>
            <a:ext cx="731520" cy="243840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41920" y="52181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</a:rPr>
              <a:t>Test</a:t>
            </a:r>
            <a:endParaRPr lang="en-US" sz="1333" dirty="0"/>
          </a:p>
        </p:txBody>
      </p:sp>
      <p:sp>
        <p:nvSpPr>
          <p:cNvPr id="44" name="Text 42"/>
          <p:cNvSpPr/>
          <p:nvPr/>
        </p:nvSpPr>
        <p:spPr>
          <a:xfrm>
            <a:off x="9631680" y="521817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AAAAAA"/>
                </a:solidFill>
              </a:rPr>
              <a:t>3,589 images</a:t>
            </a:r>
            <a:endParaRPr lang="en-US" sz="1333" dirty="0"/>
          </a:p>
        </p:txBody>
      </p:sp>
      <p:sp>
        <p:nvSpPr>
          <p:cNvPr id="45" name="Text 43"/>
          <p:cNvSpPr/>
          <p:nvPr/>
        </p:nvSpPr>
        <p:spPr>
          <a:xfrm>
            <a:off x="7559040" y="5913120"/>
            <a:ext cx="4267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dirty="0">
                <a:solidFill>
                  <a:srgbClr val="666666"/>
                </a:solidFill>
              </a:rPr>
              <a:t>Source: Kaggle FER-2013 Competition (Goodfellow et al.)</a:t>
            </a:r>
            <a:endParaRPr lang="en-US" sz="1067" dirty="0"/>
          </a:p>
        </p:txBody>
      </p:sp>
      <p:sp>
        <p:nvSpPr>
          <p:cNvPr id="46" name="Shape 44"/>
          <p:cNvSpPr/>
          <p:nvPr/>
        </p:nvSpPr>
        <p:spPr>
          <a:xfrm>
            <a:off x="0" y="6339840"/>
            <a:ext cx="12192000" cy="51816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9600" y="6339840"/>
            <a:ext cx="10972800" cy="518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666666"/>
                </a:solidFill>
              </a:rPr>
              <a:t>Emotion Detection System  •  Theoretical Background</a:t>
            </a:r>
            <a:endParaRPr lang="en-US" sz="1200" dirty="0"/>
          </a:p>
        </p:txBody>
      </p:sp>
      <p:pic>
        <p:nvPicPr>
          <p:cNvPr id="2050" name="Picture 2" descr="https://storage.googleapis.com/kagglesdsdata/datasets/786787/1351797/test/angry/PrivateTest_10131363.jpg?X-Goog-Algorithm=GOOG4-RSA-SHA256&amp;X-Goog-Credential=databundle-worker-v2%40kaggle-161607.iam.gserviceaccount.com%2F20260405%2Fauto%2Fstorage%2Fgoog4_request&amp;X-Goog-Date=20260405T051711Z&amp;X-Goog-Expires=345600&amp;X-Goog-SignedHeaders=host&amp;X-Goog-Signature=686e91edabacd4b1cf77f42dc5c03018ab2dc1539731217669b07b4d59acd5e54194ace3f88bd9fa25ff1f74b95d9adbb13401935085d8dfeb0b2bbe9323ecf7c327e9472002a8b9fc06e45842ec5619c82a3c8b52d7d4cf555ea6a31c31986cfffe26631f53694db726ffb371f42b32c7f1b4aff57f32d7d80f91b5c29d2a279b1a2ea24f97a5f4b8f5e31aeddeb4fd86567a627f4487f501a8a430621fbba0ab302e52eca16b04d4740fdb2746f37c8651fd85522decaeb2b18440439161ebf89a674827b46177a846dad400e45d654cdbcf7eab453b4de6ee1d5fcdb5f03ab25c8550b63859aae44ab55361f99b53defdfbaa0af6921050c813cea232d1e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3792" y="3789160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storage.googleapis.com/kagglesdsdata/datasets/786787/1351797/test/disgust/PrivateTest_11895083.jpg?X-Goog-Algorithm=GOOG4-RSA-SHA256&amp;X-Goog-Credential=databundle-worker-v2%40kaggle-161607.iam.gserviceaccount.com%2F20260405%2Fauto%2Fstorage%2Fgoog4_request&amp;X-Goog-Date=20260405T191859Z&amp;X-Goog-Expires=345600&amp;X-Goog-SignedHeaders=host&amp;X-Goog-Signature=45d6ea8a7b100fbdb647fa19a3107f77644925ccbd7b07dc8418da7e82d3087da5aefef17b25c2486c7d83d057b037580ca213b3c9c6820ca83c15702e8884710b242186ecc79b9837870c15c195c8f75cde8b3014b01f71aa381b5536ef5acce95b8a2fc8621e9fae2467641f9e8fa743bf2d8f717e0ec78bdc02e6518107ee06fb492a3639198473d83b5cf1d1cd9078655a7ad331a57b3d1bdfb290fd6afecea09d8a66e9e6530e3f019f3b25547988c14c804958413e72511f3fb579014d6b86d5c340a879b63d03f92e2fe96569af61773157c40512a897f1f633691f9f2df4169568cb80b4e0e47bf730a304ac71bc9c87d87c431ca1f6883f678dc79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8720" y="4785360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s://storage.googleapis.com/kagglesdsdata/datasets/786787/1351797/test/fear/PrivateTest_10153550.jpg?X-Goog-Algorithm=GOOG4-RSA-SHA256&amp;X-Goog-Credential=databundle-worker-v2%40kaggle-161607.iam.gserviceaccount.com%2F20260405%2Fauto%2Fstorage%2Fgoog4_request&amp;X-Goog-Date=20260405T145714Z&amp;X-Goog-Expires=345600&amp;X-Goog-SignedHeaders=host&amp;X-Goog-Signature=1af33bc1e5304114a897f4e6cd612a3119404fc03643dd9400cb1dd625f93d7fbe5aec11843f8aa4422aff6b89b3335374eb84dd9a2f77cdd3d323b834c065efb82a4657ba3fc521e4385990525eb9b6eabfc738c08eff653b095cc77a87e28be39393e29192b986145790dbd2ee8d15420bc3de4f1b43d02afce81e5edaed4e424650d72d735a65097c4c5b6ef1273361bff3811b0724a8f54e59c4a885fb9387a6b88f96e6bbf4c94601b541a0a0814af1a1351f70df1f50e0b438cbe8190dc67e7af184bcf252730f49cbe004be0bc96eec01718d2ff888ad09573234cc2b5c5fcaa1b04c21372b16097c39080b5c436e2283caef9751344c51da4e0e99d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4304" y="3810000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ttps://storage.googleapis.com/kagglesdsdata/datasets/786787/1351797/test/happy/PrivateTest_10077120.jpg?X-Goog-Algorithm=GOOG4-RSA-SHA256&amp;X-Goog-Credential=databundle-worker-v2%40kaggle-161607.iam.gserviceaccount.com%2F20260402%2Fauto%2Fstorage%2Fgoog4_request&amp;X-Goog-Date=20260402T175357Z&amp;X-Goog-Expires=345600&amp;X-Goog-SignedHeaders=host&amp;X-Goog-Signature=73148c19079493fa7d15aa2b3e15a8c8f69be5f76049d4bf701d08f0be4c6366cba6c25c8ce80ab11f22a252aa9b5b9da8a4d9c7adf64cc1f0f23d1174bd01b4afb91ee5b7475cbd2475e8843e2d29f814927b2fb7edc884e86830a86a453601683406ad8fe443fb90b655a733c6fcb32971e66e716b4e7d50d342588604bfc003088ffaad801235b077634a9bc122367626aeaf9efac8e60a23c273578e96c38290828cfe3c91a09b88226fd0f6b24056fd8f8019954773078d5a07f274486624f60a3f6920a5b3559795b264410cb241ac8bbe7f738badbe6e08d0e21d6f934f44fa33e94bf2731a90c1f6000c8e555ccd01a169fc4320daf9a7ad31d25af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8720" y="3822051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https://storage.googleapis.com/kagglesdsdata/datasets/786787/1351797/test/neutral/PrivateTest_10086748.jpg?X-Goog-Algorithm=GOOG4-RSA-SHA256&amp;X-Goog-Credential=databundle-worker-v2%40kaggle-161607.iam.gserviceaccount.com%2F20260405%2Fauto%2Fstorage%2Fgoog4_request&amp;X-Goog-Date=20260405T192107Z&amp;X-Goog-Expires=345600&amp;X-Goog-SignedHeaders=host&amp;X-Goog-Signature=0cad54c52871a63bf3e480140a544ec0b9f17e3e576bbee532eb92452226e8348433e0c723f0645fe64bb3742a96cdca9f57f2669550f51326848d7b51b5d83d952c2c208efea83b2e64458d3b7a52f3bec75dcfb600819123d8031547b3e58f6ad87068ef3691f9f56239a73d2b2571b4d16c5434e7f0704f1ba7b28f4598c60fbd0bca969b296dadfa37b6d60ea38e87693823ea5bd37d31d09d794422f496d36f9708346fe0c361604093936ab7021bbe88f6bc4d4f6fff13c0af3c912e79d7392c5a53099ed6c6c909aae4bc2d53929c76b90a61fa9c9c7676d22546d62918a26594a87a4b0174e93142f041bab91a4700dd5f196dd83477bd7ccbcec35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9440" y="4785360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https://storage.googleapis.com/kagglesdsdata/datasets/786787/1351797/test/sad/PrivateTest_10247676.jpg?X-Goog-Algorithm=GOOG4-RSA-SHA256&amp;X-Goog-Credential=databundle-worker-v2%40kaggle-161607.iam.gserviceaccount.com%2F20260405%2Fauto%2Fstorage%2Fgoog4_request&amp;X-Goog-Date=20260405T094731Z&amp;X-Goog-Expires=345600&amp;X-Goog-SignedHeaders=host&amp;X-Goog-Signature=4a59ae8af656e4c467dd7c140d34086610dd00af67b21bb4584dcb34463e18530040929bec79683fffe10b5ad37a3d8dd9d92145546711027cd46c7cf5d39d2661197308336761ea20529f9ebf0add75c5945807d44f765eacb0aa0aa5b5d272c1389b7219c0a7169c45355ccc20f1813783783c1dcdae37f7e0b639dd708d69589b169050ddccba96b53edf1fe96f3ab48cf59aaacdbbbd9f81196c9bc0039b9bdd05b61f22c2180517ad0f60cf7723ea5c80b05e58b482f44faf69c8a713710fa1ac0f53f94b2b39374a31dc3968a84ec5954c27a4045ce449b3d19e14d4af603f9ea60afc57927f2d0fe47487ef512a2d480501a114432fb228ddc172e1f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2400" y="3792845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https://storage.googleapis.com/kagglesdsdata/datasets/786787/1351797/test/surprise/PrivateTest_10072988.jpg?X-Goog-Algorithm=GOOG4-RSA-SHA256&amp;X-Goog-Credential=databundle-worker-v2%40kaggle-161607.iam.gserviceaccount.com%2F20260405%2Fauto%2Fstorage%2Fgoog4_request&amp;X-Goog-Date=20260405T094010Z&amp;X-Goog-Expires=345600&amp;X-Goog-SignedHeaders=host&amp;X-Goog-Signature=33c8423a704ca28e2f3f3bb224cc2229f040ae32de90d7c65ece7d89a94897cceaf15061c74199707eaf9fec4a20dfed67a1dafa0bfcac1d9d8558e98e02347d627ec34cb8e146cd549ca6259b32582dbc94a5f03abd2fc95af047cd42cff0e0134f11775167159a8d0da13509faebabbeb5405aaa1baeba653019f7cfcd300a4b01e0fc4eab27ecbd7ad27de9b7bc90827fb38b044dcf7fbd356b42469f5e02bd1bc1589ad92551f9f3d752ac130e46c39ad7579927188fa8266e9724148009846e5bbb8d2712d231a9afa04c9f05ffb33082e1b8f5bd40b464121545bd8d57bd9aa57f9b59f68bbe56a5e55f8fb8f2082302a2edb6a86b672923b10ed0e3c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451" y="4748784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6894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" y="0"/>
            <a:ext cx="146304" cy="68580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04800"/>
            <a:ext cx="1950720" cy="3413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04800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</a:rPr>
              <a:t>METHODS</a:t>
            </a:r>
            <a:endParaRPr lang="en-US" sz="1067" dirty="0"/>
          </a:p>
        </p:txBody>
      </p:sp>
      <p:sp>
        <p:nvSpPr>
          <p:cNvPr id="5" name="Text 3"/>
          <p:cNvSpPr/>
          <p:nvPr/>
        </p:nvSpPr>
        <p:spPr>
          <a:xfrm>
            <a:off x="365760" y="79248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do this?</a:t>
            </a:r>
            <a:endParaRPr lang="en-US" sz="4267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3596640" cy="4328160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28800"/>
            <a:ext cx="3596640" cy="73152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401824"/>
            <a:ext cx="3230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FFFFFF"/>
                </a:solidFill>
              </a:rPr>
              <a:t>CNN from Scratch</a:t>
            </a:r>
            <a:endParaRPr lang="en-US" sz="1867" dirty="0"/>
          </a:p>
        </p:txBody>
      </p:sp>
      <p:sp>
        <p:nvSpPr>
          <p:cNvPr id="11" name="Text 9"/>
          <p:cNvSpPr/>
          <p:nvPr/>
        </p:nvSpPr>
        <p:spPr>
          <a:xfrm>
            <a:off x="1097280" y="2962656"/>
            <a:ext cx="3230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AAAAAA"/>
                </a:solidFill>
              </a:rPr>
              <a:t>Train my own CNN</a:t>
            </a:r>
            <a:endParaRPr lang="en-US" sz="1333" dirty="0"/>
          </a:p>
        </p:txBody>
      </p:sp>
      <p:sp>
        <p:nvSpPr>
          <p:cNvPr id="14" name="Text 12"/>
          <p:cNvSpPr/>
          <p:nvPr/>
        </p:nvSpPr>
        <p:spPr>
          <a:xfrm>
            <a:off x="4023360" y="1889760"/>
            <a:ext cx="365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933" b="1" dirty="0">
                <a:solidFill>
                  <a:srgbClr val="333333"/>
                </a:solidFill>
              </a:rPr>
              <a:t>1</a:t>
            </a:r>
            <a:endParaRPr lang="en-US" sz="2933" dirty="0"/>
          </a:p>
        </p:txBody>
      </p:sp>
      <p:sp>
        <p:nvSpPr>
          <p:cNvPr id="15" name="Shape 13"/>
          <p:cNvSpPr/>
          <p:nvPr/>
        </p:nvSpPr>
        <p:spPr>
          <a:xfrm>
            <a:off x="7863840" y="1828800"/>
            <a:ext cx="3596640" cy="4328160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0" y="1828800"/>
            <a:ext cx="3596640" cy="7315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2401824"/>
            <a:ext cx="3230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FFFFFF"/>
                </a:solidFill>
              </a:rPr>
              <a:t>Transfer </a:t>
            </a:r>
            <a:r>
              <a:rPr lang="en-US" sz="1867" b="1" dirty="0">
                <a:solidFill>
                  <a:srgbClr val="FFFFFF"/>
                </a:solidFill>
              </a:rPr>
              <a:t>Learning (</a:t>
            </a:r>
            <a:r>
              <a:rPr lang="en-US" sz="1867" b="1" dirty="0" err="1">
                <a:solidFill>
                  <a:srgbClr val="FFFFFF"/>
                </a:solidFill>
              </a:rPr>
              <a:t>yoink</a:t>
            </a:r>
            <a:r>
              <a:rPr lang="en-US" sz="1867" b="1" dirty="0">
                <a:solidFill>
                  <a:srgbClr val="FFFFFF"/>
                </a:solidFill>
              </a:rPr>
              <a:t>)</a:t>
            </a:r>
            <a:endParaRPr lang="en-US" sz="1867" dirty="0"/>
          </a:p>
        </p:txBody>
      </p:sp>
      <p:sp>
        <p:nvSpPr>
          <p:cNvPr id="20" name="Text 18"/>
          <p:cNvSpPr/>
          <p:nvPr/>
        </p:nvSpPr>
        <p:spPr>
          <a:xfrm>
            <a:off x="8046720" y="2962656"/>
            <a:ext cx="3230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AAAAAA"/>
                </a:solidFill>
              </a:rPr>
              <a:t>Use a pre-trained model (MobileNetV2</a:t>
            </a:r>
            <a:r>
              <a:rPr lang="en-US" sz="1333" dirty="0">
                <a:solidFill>
                  <a:srgbClr val="AAAAAA"/>
                </a:solidFill>
              </a:rPr>
              <a:t>, ResNet50, VGG16) </a:t>
            </a:r>
            <a:r>
              <a:rPr lang="en-US" sz="1333" dirty="0">
                <a:solidFill>
                  <a:srgbClr val="AAAAAA"/>
                </a:solidFill>
              </a:rPr>
              <a:t>on the </a:t>
            </a:r>
            <a:r>
              <a:rPr lang="en-US" sz="1333" dirty="0">
                <a:solidFill>
                  <a:srgbClr val="AAAAAA"/>
                </a:solidFill>
              </a:rPr>
              <a:t>FER2013 </a:t>
            </a:r>
            <a:r>
              <a:rPr lang="en-US" sz="1333" dirty="0">
                <a:solidFill>
                  <a:srgbClr val="AAAAAA"/>
                </a:solidFill>
              </a:rPr>
              <a:t>dataset</a:t>
            </a:r>
            <a:endParaRPr lang="en-US" sz="1333" dirty="0"/>
          </a:p>
        </p:txBody>
      </p:sp>
      <p:sp>
        <p:nvSpPr>
          <p:cNvPr id="23" name="Text 21"/>
          <p:cNvSpPr/>
          <p:nvPr/>
        </p:nvSpPr>
        <p:spPr>
          <a:xfrm>
            <a:off x="10972800" y="1889760"/>
            <a:ext cx="365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933" b="1" dirty="0">
                <a:solidFill>
                  <a:srgbClr val="333333"/>
                </a:solidFill>
              </a:rPr>
              <a:t>2</a:t>
            </a:r>
            <a:endParaRPr lang="en-US" sz="2933" dirty="0"/>
          </a:p>
        </p:txBody>
      </p:sp>
      <p:sp>
        <p:nvSpPr>
          <p:cNvPr id="33" name="Shape 31"/>
          <p:cNvSpPr/>
          <p:nvPr/>
        </p:nvSpPr>
        <p:spPr>
          <a:xfrm>
            <a:off x="0" y="6339840"/>
            <a:ext cx="12192000" cy="51816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9600" y="6339840"/>
            <a:ext cx="10972800" cy="518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666666"/>
                </a:solidFill>
              </a:rPr>
              <a:t>Emotion Detection System  •  Theoretical Background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10498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04800"/>
            <a:ext cx="1950720" cy="3413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04800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</a:rPr>
              <a:t>Tools</a:t>
            </a:r>
            <a:endParaRPr lang="en-US" sz="1067" dirty="0"/>
          </a:p>
        </p:txBody>
      </p:sp>
      <p:sp>
        <p:nvSpPr>
          <p:cNvPr id="5" name="Text 3"/>
          <p:cNvSpPr/>
          <p:nvPr/>
        </p:nvSpPr>
        <p:spPr>
          <a:xfrm>
            <a:off x="365760" y="79248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Libraries &amp; Algorithms</a:t>
            </a:r>
            <a:endParaRPr lang="en-US" sz="4267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5486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CC0000"/>
                </a:solidFill>
              </a:rPr>
              <a:t>Libraries I think might be useful</a:t>
            </a:r>
            <a:endParaRPr lang="en-US" sz="1733" dirty="0"/>
          </a:p>
        </p:txBody>
      </p:sp>
      <p:sp>
        <p:nvSpPr>
          <p:cNvPr id="7" name="Shape 5"/>
          <p:cNvSpPr/>
          <p:nvPr/>
        </p:nvSpPr>
        <p:spPr>
          <a:xfrm>
            <a:off x="365760" y="2377440"/>
            <a:ext cx="5547360" cy="670560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377440"/>
            <a:ext cx="73152" cy="6705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600" y="2426208"/>
            <a:ext cx="341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</a:rPr>
              <a:t>TensorFlow / Keras</a:t>
            </a:r>
            <a:endParaRPr lang="en-US" sz="1467" dirty="0"/>
          </a:p>
        </p:txBody>
      </p:sp>
      <p:sp>
        <p:nvSpPr>
          <p:cNvPr id="10" name="Text 8"/>
          <p:cNvSpPr/>
          <p:nvPr/>
        </p:nvSpPr>
        <p:spPr>
          <a:xfrm>
            <a:off x="609600" y="2706624"/>
            <a:ext cx="3657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888888"/>
                </a:solidFill>
              </a:rPr>
              <a:t>For the model</a:t>
            </a:r>
            <a:endParaRPr lang="en-US" sz="1067" dirty="0"/>
          </a:p>
        </p:txBody>
      </p:sp>
      <p:sp>
        <p:nvSpPr>
          <p:cNvPr id="13" name="Shape 11"/>
          <p:cNvSpPr/>
          <p:nvPr/>
        </p:nvSpPr>
        <p:spPr>
          <a:xfrm>
            <a:off x="365760" y="3145536"/>
            <a:ext cx="5547360" cy="670560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145536"/>
            <a:ext cx="73152" cy="6705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600" y="3194304"/>
            <a:ext cx="341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</a:rPr>
              <a:t>OpenCV</a:t>
            </a:r>
            <a:endParaRPr lang="en-US" sz="1467" dirty="0"/>
          </a:p>
        </p:txBody>
      </p:sp>
      <p:sp>
        <p:nvSpPr>
          <p:cNvPr id="16" name="Text 14"/>
          <p:cNvSpPr/>
          <p:nvPr/>
        </p:nvSpPr>
        <p:spPr>
          <a:xfrm>
            <a:off x="609600" y="3474720"/>
            <a:ext cx="3657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888888"/>
                </a:solidFill>
              </a:rPr>
              <a:t>To get and pre-process the image</a:t>
            </a:r>
            <a:endParaRPr lang="en-US" sz="1067" dirty="0"/>
          </a:p>
        </p:txBody>
      </p:sp>
      <p:sp>
        <p:nvSpPr>
          <p:cNvPr id="19" name="Shape 17"/>
          <p:cNvSpPr/>
          <p:nvPr/>
        </p:nvSpPr>
        <p:spPr>
          <a:xfrm>
            <a:off x="365760" y="3913632"/>
            <a:ext cx="5547360" cy="670560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913632"/>
            <a:ext cx="73152" cy="6705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9600" y="3962400"/>
            <a:ext cx="341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</a:rPr>
              <a:t>NumPy / Pandas</a:t>
            </a:r>
            <a:endParaRPr lang="en-US" sz="1467" dirty="0"/>
          </a:p>
        </p:txBody>
      </p:sp>
      <p:sp>
        <p:nvSpPr>
          <p:cNvPr id="22" name="Text 20"/>
          <p:cNvSpPr/>
          <p:nvPr/>
        </p:nvSpPr>
        <p:spPr>
          <a:xfrm>
            <a:off x="609600" y="4242816"/>
            <a:ext cx="3657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888888"/>
                </a:solidFill>
              </a:rPr>
              <a:t>Numerical computations</a:t>
            </a:r>
            <a:endParaRPr lang="en-US" sz="1067" dirty="0"/>
          </a:p>
        </p:txBody>
      </p:sp>
      <p:sp>
        <p:nvSpPr>
          <p:cNvPr id="25" name="Shape 23"/>
          <p:cNvSpPr/>
          <p:nvPr/>
        </p:nvSpPr>
        <p:spPr>
          <a:xfrm>
            <a:off x="365760" y="4681728"/>
            <a:ext cx="5547360" cy="670560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681728"/>
            <a:ext cx="73152" cy="6705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9600" y="4730496"/>
            <a:ext cx="341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</a:rPr>
              <a:t>Matplotlib / Seaborn</a:t>
            </a:r>
            <a:endParaRPr lang="en-US" sz="1467" dirty="0"/>
          </a:p>
        </p:txBody>
      </p:sp>
      <p:sp>
        <p:nvSpPr>
          <p:cNvPr id="28" name="Text 26"/>
          <p:cNvSpPr/>
          <p:nvPr/>
        </p:nvSpPr>
        <p:spPr>
          <a:xfrm>
            <a:off x="609600" y="5010912"/>
            <a:ext cx="3657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888888"/>
                </a:solidFill>
              </a:rPr>
              <a:t>Plots, maybe the confusion matrix</a:t>
            </a:r>
            <a:endParaRPr lang="en-US" sz="1067" dirty="0"/>
          </a:p>
        </p:txBody>
      </p:sp>
      <p:sp>
        <p:nvSpPr>
          <p:cNvPr id="31" name="Shape 29"/>
          <p:cNvSpPr/>
          <p:nvPr/>
        </p:nvSpPr>
        <p:spPr>
          <a:xfrm>
            <a:off x="365760" y="5449824"/>
            <a:ext cx="5547360" cy="670560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5449824"/>
            <a:ext cx="73152" cy="6705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9600" y="5498592"/>
            <a:ext cx="341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</a:rPr>
              <a:t>Scikit-learn</a:t>
            </a:r>
            <a:endParaRPr lang="en-US" sz="1467" dirty="0"/>
          </a:p>
        </p:txBody>
      </p:sp>
      <p:sp>
        <p:nvSpPr>
          <p:cNvPr id="34" name="Text 32"/>
          <p:cNvSpPr/>
          <p:nvPr/>
        </p:nvSpPr>
        <p:spPr>
          <a:xfrm>
            <a:off x="609600" y="5779008"/>
            <a:ext cx="3657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 err="1">
                <a:solidFill>
                  <a:srgbClr val="888888"/>
                </a:solidFill>
              </a:rPr>
              <a:t>Slavescu</a:t>
            </a:r>
            <a:r>
              <a:rPr lang="en-US" sz="1067" dirty="0">
                <a:solidFill>
                  <a:srgbClr val="888888"/>
                </a:solidFill>
              </a:rPr>
              <a:t> said something about it :)</a:t>
            </a:r>
            <a:endParaRPr lang="en-US" sz="1067" dirty="0"/>
          </a:p>
        </p:txBody>
      </p:sp>
      <p:sp>
        <p:nvSpPr>
          <p:cNvPr id="37" name="Text 35"/>
          <p:cNvSpPr/>
          <p:nvPr/>
        </p:nvSpPr>
        <p:spPr>
          <a:xfrm>
            <a:off x="6278880" y="1828800"/>
            <a:ext cx="5486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CC0000"/>
                </a:solidFill>
              </a:rPr>
              <a:t>Algorithms recommended by “ </a:t>
            </a:r>
            <a:r>
              <a:rPr lang="en-US" sz="1733" b="1" dirty="0" err="1">
                <a:solidFill>
                  <a:srgbClr val="CC0000"/>
                </a:solidFill>
              </a:rPr>
              <a:t>vericu</a:t>
            </a:r>
            <a:r>
              <a:rPr lang="en-US" sz="1733" b="1" dirty="0">
                <a:solidFill>
                  <a:srgbClr val="CC0000"/>
                </a:solidFill>
              </a:rPr>
              <a:t>’ “</a:t>
            </a:r>
            <a:endParaRPr lang="en-US" sz="1733" dirty="0"/>
          </a:p>
        </p:txBody>
      </p:sp>
      <p:sp>
        <p:nvSpPr>
          <p:cNvPr id="38" name="Text 36"/>
          <p:cNvSpPr/>
          <p:nvPr/>
        </p:nvSpPr>
        <p:spPr>
          <a:xfrm>
            <a:off x="627888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CC0000"/>
                </a:solidFill>
              </a:rPr>
              <a:t>▸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644640" y="2377440"/>
            <a:ext cx="51206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</a:rPr>
              <a:t>Haar Cascade / MTCNN</a:t>
            </a:r>
            <a:endParaRPr lang="en-US" sz="1467" dirty="0"/>
          </a:p>
        </p:txBody>
      </p:sp>
      <p:sp>
        <p:nvSpPr>
          <p:cNvPr id="40" name="Text 38"/>
          <p:cNvSpPr/>
          <p:nvPr/>
        </p:nvSpPr>
        <p:spPr>
          <a:xfrm>
            <a:off x="6644640" y="2694432"/>
            <a:ext cx="5120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88888"/>
                </a:solidFill>
              </a:rPr>
              <a:t>Face detection and localization from input frames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278880" y="3011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CC0000"/>
                </a:solidFill>
              </a:rPr>
              <a:t>▸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644640" y="3011424"/>
            <a:ext cx="51206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</a:rPr>
              <a:t>Convolutional Layers</a:t>
            </a:r>
            <a:endParaRPr lang="en-US" sz="1467" dirty="0"/>
          </a:p>
        </p:txBody>
      </p:sp>
      <p:sp>
        <p:nvSpPr>
          <p:cNvPr id="43" name="Text 41"/>
          <p:cNvSpPr/>
          <p:nvPr/>
        </p:nvSpPr>
        <p:spPr>
          <a:xfrm>
            <a:off x="6644640" y="3328416"/>
            <a:ext cx="5120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88888"/>
                </a:solidFill>
              </a:rPr>
              <a:t>Automatic spatial feature extraction from images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278880" y="3645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CC0000"/>
                </a:solidFill>
              </a:rPr>
              <a:t>▸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644640" y="3645408"/>
            <a:ext cx="51206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</a:rPr>
              <a:t>Batch Normalization</a:t>
            </a:r>
            <a:endParaRPr lang="en-US" sz="1467" dirty="0"/>
          </a:p>
        </p:txBody>
      </p:sp>
      <p:sp>
        <p:nvSpPr>
          <p:cNvPr id="46" name="Text 44"/>
          <p:cNvSpPr/>
          <p:nvPr/>
        </p:nvSpPr>
        <p:spPr>
          <a:xfrm>
            <a:off x="6644640" y="3962400"/>
            <a:ext cx="5120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88888"/>
                </a:solidFill>
              </a:rPr>
              <a:t>Stable and faster convergence during training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278880" y="4279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CC0000"/>
                </a:solidFill>
              </a:rPr>
              <a:t>▸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644640" y="4279392"/>
            <a:ext cx="51206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</a:rPr>
              <a:t>Softmax Activation</a:t>
            </a:r>
            <a:endParaRPr lang="en-US" sz="1467" dirty="0"/>
          </a:p>
        </p:txBody>
      </p:sp>
      <p:sp>
        <p:nvSpPr>
          <p:cNvPr id="49" name="Text 47"/>
          <p:cNvSpPr/>
          <p:nvPr/>
        </p:nvSpPr>
        <p:spPr>
          <a:xfrm>
            <a:off x="6644640" y="4596384"/>
            <a:ext cx="5120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88888"/>
                </a:solidFill>
              </a:rPr>
              <a:t>Multi-class probability output (7 emotions)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278880" y="4913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CC0000"/>
                </a:solidFill>
              </a:rPr>
              <a:t>▸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644640" y="4913376"/>
            <a:ext cx="51206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</a:rPr>
              <a:t>Adam Optimizer</a:t>
            </a:r>
            <a:endParaRPr lang="en-US" sz="1467" dirty="0"/>
          </a:p>
        </p:txBody>
      </p:sp>
      <p:sp>
        <p:nvSpPr>
          <p:cNvPr id="52" name="Text 50"/>
          <p:cNvSpPr/>
          <p:nvPr/>
        </p:nvSpPr>
        <p:spPr>
          <a:xfrm>
            <a:off x="6644640" y="5230368"/>
            <a:ext cx="5120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88888"/>
                </a:solidFill>
              </a:rPr>
              <a:t>Adaptive learning rate for faster, stable training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278880" y="554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CC0000"/>
                </a:solidFill>
              </a:rPr>
              <a:t>▸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644640" y="5547360"/>
            <a:ext cx="51206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</a:rPr>
              <a:t>Data Augmentation</a:t>
            </a:r>
            <a:endParaRPr lang="en-US" sz="1467" dirty="0"/>
          </a:p>
        </p:txBody>
      </p:sp>
      <p:sp>
        <p:nvSpPr>
          <p:cNvPr id="55" name="Text 53"/>
          <p:cNvSpPr/>
          <p:nvPr/>
        </p:nvSpPr>
        <p:spPr>
          <a:xfrm>
            <a:off x="6644640" y="5864352"/>
            <a:ext cx="5120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88888"/>
                </a:solidFill>
              </a:rPr>
              <a:t>Flips, rotations &amp; crops to reduce overfitting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0" y="6339840"/>
            <a:ext cx="12192000" cy="51816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09600" y="6339840"/>
            <a:ext cx="10972800" cy="518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666666"/>
                </a:solidFill>
              </a:rPr>
              <a:t>Emotion Detection System  •  Theoretical Background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491501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04800"/>
            <a:ext cx="1950720" cy="3413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04800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</a:rPr>
              <a:t>FLOW</a:t>
            </a:r>
            <a:endParaRPr lang="en-US" sz="1067" dirty="0"/>
          </a:p>
        </p:txBody>
      </p:sp>
      <p:sp>
        <p:nvSpPr>
          <p:cNvPr id="5" name="Text 3"/>
          <p:cNvSpPr/>
          <p:nvPr/>
        </p:nvSpPr>
        <p:spPr>
          <a:xfrm>
            <a:off x="365760" y="79248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Application Flow</a:t>
            </a:r>
            <a:endParaRPr lang="en-US" sz="4267" dirty="0"/>
          </a:p>
        </p:txBody>
      </p:sp>
      <p:sp>
        <p:nvSpPr>
          <p:cNvPr id="6" name="Shape 4"/>
          <p:cNvSpPr/>
          <p:nvPr/>
        </p:nvSpPr>
        <p:spPr>
          <a:xfrm>
            <a:off x="426720" y="2072640"/>
            <a:ext cx="1950720" cy="256032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7680" y="2170176"/>
            <a:ext cx="512064" cy="3657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7680" y="2170176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4256" y="2706624"/>
            <a:ext cx="175564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Input</a:t>
            </a:r>
            <a:endParaRPr lang="en-US" sz="1867" dirty="0"/>
          </a:p>
        </p:txBody>
      </p:sp>
      <p:sp>
        <p:nvSpPr>
          <p:cNvPr id="10" name="Text 8"/>
          <p:cNvSpPr/>
          <p:nvPr/>
        </p:nvSpPr>
        <p:spPr>
          <a:xfrm>
            <a:off x="524256" y="3657600"/>
            <a:ext cx="1755648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88888"/>
                </a:solidFill>
              </a:rPr>
              <a:t>Webcam /</a:t>
            </a:r>
            <a:endParaRPr lang="en-US" sz="12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88888"/>
                </a:solidFill>
              </a:rPr>
              <a:t>Image / Video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14016" y="3316224"/>
            <a:ext cx="146304" cy="731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99360" y="3182112"/>
            <a:ext cx="182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CC0000"/>
                </a:solidFill>
              </a:rPr>
              <a:t>▶</a:t>
            </a:r>
            <a:endParaRPr lang="en-US" sz="1333" dirty="0"/>
          </a:p>
        </p:txBody>
      </p:sp>
      <p:sp>
        <p:nvSpPr>
          <p:cNvPr id="13" name="Shape 11"/>
          <p:cNvSpPr/>
          <p:nvPr/>
        </p:nvSpPr>
        <p:spPr>
          <a:xfrm>
            <a:off x="2621280" y="2072640"/>
            <a:ext cx="1950720" cy="256032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82240" y="2170176"/>
            <a:ext cx="512064" cy="3657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82240" y="2170176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18816" y="2706624"/>
            <a:ext cx="175564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Face</a:t>
            </a:r>
            <a:endParaRPr lang="en-US" sz="1867" dirty="0"/>
          </a:p>
          <a:p>
            <a:pPr algn="ctr"/>
            <a:r>
              <a:rPr lang="en-US" sz="1867" b="1" dirty="0">
                <a:solidFill>
                  <a:srgbClr val="FFFFFF"/>
                </a:solidFill>
              </a:rPr>
              <a:t>Detection</a:t>
            </a:r>
            <a:endParaRPr lang="en-US" sz="1867" dirty="0"/>
          </a:p>
        </p:txBody>
      </p:sp>
      <p:sp>
        <p:nvSpPr>
          <p:cNvPr id="17" name="Text 15"/>
          <p:cNvSpPr/>
          <p:nvPr/>
        </p:nvSpPr>
        <p:spPr>
          <a:xfrm>
            <a:off x="2718816" y="3657600"/>
            <a:ext cx="1755648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88888"/>
                </a:solidFill>
              </a:rPr>
              <a:t>Haar Cascade</a:t>
            </a:r>
            <a:endParaRPr lang="en-US" sz="12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88888"/>
                </a:solidFill>
              </a:rPr>
              <a:t>or MTCNN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08576" y="3316224"/>
            <a:ext cx="146304" cy="731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93920" y="3182112"/>
            <a:ext cx="182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CC0000"/>
                </a:solidFill>
              </a:rPr>
              <a:t>▶</a:t>
            </a:r>
            <a:endParaRPr lang="en-US" sz="1333" dirty="0"/>
          </a:p>
        </p:txBody>
      </p:sp>
      <p:sp>
        <p:nvSpPr>
          <p:cNvPr id="20" name="Shape 18"/>
          <p:cNvSpPr/>
          <p:nvPr/>
        </p:nvSpPr>
        <p:spPr>
          <a:xfrm>
            <a:off x="4815840" y="2072640"/>
            <a:ext cx="1950720" cy="256032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76800" y="2170176"/>
            <a:ext cx="512064" cy="3657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6800" y="2170176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13376" y="2706624"/>
            <a:ext cx="175564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Pre-</a:t>
            </a:r>
            <a:endParaRPr lang="en-US" sz="1867" dirty="0"/>
          </a:p>
          <a:p>
            <a:pPr algn="ctr"/>
            <a:r>
              <a:rPr lang="en-US" sz="1867" b="1" dirty="0">
                <a:solidFill>
                  <a:srgbClr val="FFFFFF"/>
                </a:solidFill>
              </a:rPr>
              <a:t>processing</a:t>
            </a:r>
            <a:endParaRPr lang="en-US" sz="1867" dirty="0"/>
          </a:p>
        </p:txBody>
      </p:sp>
      <p:sp>
        <p:nvSpPr>
          <p:cNvPr id="24" name="Text 22"/>
          <p:cNvSpPr/>
          <p:nvPr/>
        </p:nvSpPr>
        <p:spPr>
          <a:xfrm>
            <a:off x="4913376" y="3657600"/>
            <a:ext cx="1755648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88888"/>
                </a:solidFill>
              </a:rPr>
              <a:t>Resize 48×48</a:t>
            </a:r>
            <a:endParaRPr lang="en-US" sz="12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88888"/>
                </a:solidFill>
              </a:rPr>
              <a:t>Normalize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03136" y="3316224"/>
            <a:ext cx="146304" cy="731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88480" y="3182112"/>
            <a:ext cx="182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CC0000"/>
                </a:solidFill>
              </a:rPr>
              <a:t>▶</a:t>
            </a:r>
            <a:endParaRPr lang="en-US" sz="1333" dirty="0"/>
          </a:p>
        </p:txBody>
      </p:sp>
      <p:sp>
        <p:nvSpPr>
          <p:cNvPr id="27" name="Shape 25"/>
          <p:cNvSpPr/>
          <p:nvPr/>
        </p:nvSpPr>
        <p:spPr>
          <a:xfrm>
            <a:off x="7010400" y="2072640"/>
            <a:ext cx="1950720" cy="2560320"/>
          </a:xfrm>
          <a:prstGeom prst="rect">
            <a:avLst/>
          </a:prstGeom>
          <a:solidFill>
            <a:srgbClr val="8B0000"/>
          </a:solidFill>
          <a:ln w="25400">
            <a:solidFill>
              <a:srgbClr val="CC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71360" y="2170176"/>
            <a:ext cx="512064" cy="365760"/>
          </a:xfrm>
          <a:prstGeom prst="rect">
            <a:avLst/>
          </a:prstGeom>
          <a:solidFill>
            <a:srgbClr val="FF6666"/>
          </a:solidFill>
          <a:ln w="12700">
            <a:solidFill>
              <a:srgbClr val="FF66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71360" y="2170176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07936" y="2706624"/>
            <a:ext cx="175564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CNN</a:t>
            </a:r>
            <a:endParaRPr lang="en-US" sz="1867" dirty="0"/>
          </a:p>
          <a:p>
            <a:pPr algn="ctr"/>
            <a:r>
              <a:rPr lang="en-US" sz="1867" b="1" dirty="0">
                <a:solidFill>
                  <a:srgbClr val="FFFFFF"/>
                </a:solidFill>
              </a:rPr>
              <a:t>Model</a:t>
            </a:r>
            <a:endParaRPr lang="en-US" sz="1867" dirty="0"/>
          </a:p>
        </p:txBody>
      </p:sp>
      <p:sp>
        <p:nvSpPr>
          <p:cNvPr id="31" name="Text 29"/>
          <p:cNvSpPr/>
          <p:nvPr/>
        </p:nvSpPr>
        <p:spPr>
          <a:xfrm>
            <a:off x="7107936" y="3657600"/>
            <a:ext cx="1755648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CCCC"/>
                </a:solidFill>
              </a:rPr>
              <a:t>Feature</a:t>
            </a:r>
            <a:endParaRPr lang="en-US" sz="12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CCCC"/>
                </a:solidFill>
              </a:rPr>
              <a:t>Extraction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997696" y="3316224"/>
            <a:ext cx="146304" cy="731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83040" y="3182112"/>
            <a:ext cx="182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CC0000"/>
                </a:solidFill>
              </a:rPr>
              <a:t>▶</a:t>
            </a:r>
            <a:endParaRPr lang="en-US" sz="1333" dirty="0"/>
          </a:p>
        </p:txBody>
      </p:sp>
      <p:sp>
        <p:nvSpPr>
          <p:cNvPr id="34" name="Shape 32"/>
          <p:cNvSpPr/>
          <p:nvPr/>
        </p:nvSpPr>
        <p:spPr>
          <a:xfrm>
            <a:off x="9204960" y="2072640"/>
            <a:ext cx="1950720" cy="256032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265920" y="2170176"/>
            <a:ext cx="512064" cy="3657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65920" y="2170176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302496" y="2706624"/>
            <a:ext cx="175564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Output</a:t>
            </a:r>
            <a:endParaRPr lang="en-US" sz="1867" dirty="0"/>
          </a:p>
        </p:txBody>
      </p:sp>
      <p:sp>
        <p:nvSpPr>
          <p:cNvPr id="38" name="Text 36"/>
          <p:cNvSpPr/>
          <p:nvPr/>
        </p:nvSpPr>
        <p:spPr>
          <a:xfrm>
            <a:off x="9302496" y="3657600"/>
            <a:ext cx="1755648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88888"/>
                </a:solidFill>
              </a:rPr>
              <a:t>Probabilities</a:t>
            </a:r>
            <a:endParaRPr lang="en-US" sz="12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88888"/>
                </a:solidFill>
              </a:rPr>
              <a:t>for 7 emotions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204960" y="4852416"/>
            <a:ext cx="1950720" cy="6705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04960" y="4852416"/>
            <a:ext cx="195072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FFFFFF"/>
                </a:solidFill>
              </a:rPr>
              <a:t>😊 HAPPY  83%</a:t>
            </a:r>
            <a:endParaRPr lang="en-US" sz="1133" dirty="0"/>
          </a:p>
          <a:p>
            <a:pPr algn="ctr"/>
            <a:r>
              <a:rPr lang="en-US" sz="1133" dirty="0">
                <a:solidFill>
                  <a:srgbClr val="FFFFFF"/>
                </a:solidFill>
              </a:rPr>
              <a:t>😠 ANGRY  9%</a:t>
            </a:r>
            <a:endParaRPr lang="en-US" sz="1133" dirty="0"/>
          </a:p>
        </p:txBody>
      </p:sp>
      <p:sp>
        <p:nvSpPr>
          <p:cNvPr id="41" name="Shape 39"/>
          <p:cNvSpPr/>
          <p:nvPr/>
        </p:nvSpPr>
        <p:spPr>
          <a:xfrm>
            <a:off x="426720" y="4852416"/>
            <a:ext cx="1950720" cy="42672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6720" y="4852416"/>
            <a:ext cx="1950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AAAAAA"/>
                </a:solidFill>
              </a:rPr>
              <a:t>📷 Live / Static</a:t>
            </a:r>
            <a:endParaRPr lang="en-US" sz="1133" dirty="0"/>
          </a:p>
        </p:txBody>
      </p:sp>
      <p:sp>
        <p:nvSpPr>
          <p:cNvPr id="43" name="Shape 41"/>
          <p:cNvSpPr/>
          <p:nvPr/>
        </p:nvSpPr>
        <p:spPr>
          <a:xfrm>
            <a:off x="0" y="6339840"/>
            <a:ext cx="12192000" cy="51816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9600" y="6339840"/>
            <a:ext cx="10972800" cy="518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666666"/>
                </a:solidFill>
              </a:rPr>
              <a:t>Emotion Detection System  •  Theoretical Background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19347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04800"/>
            <a:ext cx="1950720" cy="3413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04800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</a:rPr>
              <a:t>SOLUTION</a:t>
            </a:r>
            <a:endParaRPr lang="en-US" sz="1067" dirty="0"/>
          </a:p>
        </p:txBody>
      </p:sp>
      <p:sp>
        <p:nvSpPr>
          <p:cNvPr id="5" name="Text 3"/>
          <p:cNvSpPr/>
          <p:nvPr/>
        </p:nvSpPr>
        <p:spPr>
          <a:xfrm>
            <a:off x="365760" y="79248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Recommended solution by </a:t>
            </a:r>
            <a:r>
              <a:rPr lang="en-US" sz="4267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Claudiu</a:t>
            </a:r>
            <a:endParaRPr lang="en-US" sz="4267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11460480" cy="1402080"/>
          </a:xfrm>
          <a:prstGeom prst="rect">
            <a:avLst/>
          </a:prstGeom>
          <a:solidFill>
            <a:srgbClr val="8B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28800"/>
            <a:ext cx="121920" cy="1402080"/>
          </a:xfrm>
          <a:prstGeom prst="rect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0560" y="1901952"/>
            <a:ext cx="26822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AAAA"/>
                </a:solidFill>
              </a:rPr>
              <a:t>Chosen Approach: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0560" y="2218944"/>
            <a:ext cx="7680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rgbClr val="FFFFFF"/>
                </a:solidFill>
              </a:rPr>
              <a:t>Transfer Learning with MobileNetV2  +  OpenCV Face Detection</a:t>
            </a:r>
            <a:endParaRPr lang="en-US" sz="2267" dirty="0"/>
          </a:p>
        </p:txBody>
      </p:sp>
      <p:sp>
        <p:nvSpPr>
          <p:cNvPr id="10" name="Text 8"/>
          <p:cNvSpPr/>
          <p:nvPr/>
        </p:nvSpPr>
        <p:spPr>
          <a:xfrm>
            <a:off x="8534400" y="1975104"/>
            <a:ext cx="30480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>
              <a:lnSpc>
                <a:spcPct val="130000"/>
              </a:lnSpc>
            </a:pPr>
            <a:r>
              <a:rPr lang="en-US" sz="1067" dirty="0">
                <a:solidFill>
                  <a:srgbClr val="FFAAAA"/>
                </a:solidFill>
              </a:rPr>
              <a:t>Pre-trained on ImageNet → fine-tuned on FER2013 → real-time inference via OpenCV</a:t>
            </a:r>
            <a:endParaRPr lang="en-US" sz="1067" dirty="0"/>
          </a:p>
        </p:txBody>
      </p:sp>
      <p:sp>
        <p:nvSpPr>
          <p:cNvPr id="11" name="Shape 9"/>
          <p:cNvSpPr/>
          <p:nvPr/>
        </p:nvSpPr>
        <p:spPr>
          <a:xfrm>
            <a:off x="365760" y="3474720"/>
            <a:ext cx="5486400" cy="1219200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3474720"/>
            <a:ext cx="670560" cy="121920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474720"/>
            <a:ext cx="670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CC0000"/>
                </a:solidFill>
              </a:rPr>
              <a:t>01</a:t>
            </a:r>
            <a:endParaRPr lang="en-US" sz="2133" dirty="0"/>
          </a:p>
        </p:txBody>
      </p:sp>
      <p:sp>
        <p:nvSpPr>
          <p:cNvPr id="14" name="Text 12"/>
          <p:cNvSpPr/>
          <p:nvPr/>
        </p:nvSpPr>
        <p:spPr>
          <a:xfrm>
            <a:off x="1158240" y="35722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Data Pipeline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58240" y="3962400"/>
            <a:ext cx="45720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999999"/>
                </a:solidFill>
              </a:rPr>
              <a:t>Load FER2013, apply augmentation (flips, rotations, zoom). Normalize pixel values to [0,1]. Split into train/val/test.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56960" y="3474720"/>
            <a:ext cx="5486400" cy="1219200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56960" y="3474720"/>
            <a:ext cx="670560" cy="121920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56960" y="3474720"/>
            <a:ext cx="670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CC0000"/>
                </a:solidFill>
              </a:rPr>
              <a:t>02</a:t>
            </a:r>
            <a:endParaRPr lang="en-US" sz="2133" dirty="0"/>
          </a:p>
        </p:txBody>
      </p:sp>
      <p:sp>
        <p:nvSpPr>
          <p:cNvPr id="19" name="Text 17"/>
          <p:cNvSpPr/>
          <p:nvPr/>
        </p:nvSpPr>
        <p:spPr>
          <a:xfrm>
            <a:off x="6949440" y="35722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Model Setup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49440" y="3962400"/>
            <a:ext cx="45720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999999"/>
                </a:solidFill>
              </a:rPr>
              <a:t>Load MobileNetV2 (ImageNet weights). Freeze base layers. Add custom head: GlobalAvgPool → Dense(128) → Softmax(7).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852416"/>
            <a:ext cx="5486400" cy="1219200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852416"/>
            <a:ext cx="670560" cy="121920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852416"/>
            <a:ext cx="670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CC0000"/>
                </a:solidFill>
              </a:rPr>
              <a:t>03</a:t>
            </a:r>
            <a:endParaRPr lang="en-US" sz="2133" dirty="0"/>
          </a:p>
        </p:txBody>
      </p:sp>
      <p:sp>
        <p:nvSpPr>
          <p:cNvPr id="24" name="Text 22"/>
          <p:cNvSpPr/>
          <p:nvPr/>
        </p:nvSpPr>
        <p:spPr>
          <a:xfrm>
            <a:off x="1158240" y="49499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Training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58240" y="5340096"/>
            <a:ext cx="45720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999999"/>
                </a:solidFill>
              </a:rPr>
              <a:t>Fine-tune with Adam optimizer (lr=0.0001). Train for 30–50 epochs with early stopping. Monitor val accuracy &amp; loss.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56960" y="4852416"/>
            <a:ext cx="5486400" cy="1219200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56960" y="4852416"/>
            <a:ext cx="670560" cy="121920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56960" y="4852416"/>
            <a:ext cx="670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CC0000"/>
                </a:solidFill>
              </a:rPr>
              <a:t>04</a:t>
            </a:r>
            <a:endParaRPr lang="en-US" sz="2133" dirty="0"/>
          </a:p>
        </p:txBody>
      </p:sp>
      <p:sp>
        <p:nvSpPr>
          <p:cNvPr id="29" name="Text 27"/>
          <p:cNvSpPr/>
          <p:nvPr/>
        </p:nvSpPr>
        <p:spPr>
          <a:xfrm>
            <a:off x="6949440" y="49499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Inference App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49440" y="5340096"/>
            <a:ext cx="45720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999999"/>
                </a:solidFill>
              </a:rPr>
              <a:t>OpenCV reads webcam frames. Haar Cascade detects faces. Crop + preprocess → model predicts → display label + confidence.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6339840"/>
            <a:ext cx="12192000" cy="51816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9600" y="6339840"/>
            <a:ext cx="10972800" cy="518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666666"/>
                </a:solidFill>
              </a:rPr>
              <a:t>Emotion Detection System  •  Theoretical Background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88477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116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850</Words>
  <Application>Microsoft Office PowerPoint</Application>
  <PresentationFormat>Widescreen</PresentationFormat>
  <Paragraphs>216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Legion</dc:creator>
  <cp:lastModifiedBy>Legion</cp:lastModifiedBy>
  <cp:revision>2</cp:revision>
  <dcterms:created xsi:type="dcterms:W3CDTF">2026-04-21T23:20:55Z</dcterms:created>
  <dcterms:modified xsi:type="dcterms:W3CDTF">2026-04-21T23:44:14Z</dcterms:modified>
</cp:coreProperties>
</file>